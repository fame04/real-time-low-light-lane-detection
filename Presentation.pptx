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Lato" charset="1" panose="020F0502020204030203"/>
      <p:regular r:id="rId26"/>
    </p:embeddedFont>
    <p:embeddedFont>
      <p:font typeface="Lato Bold Italics" charset="1" panose="020F0502020204030203"/>
      <p:regular r:id="rId27"/>
    </p:embeddedFont>
    <p:embeddedFont>
      <p:font typeface="Lato Italics" charset="1" panose="020F0502020204030203"/>
      <p:regular r:id="rId28"/>
    </p:embeddedFont>
    <p:embeddedFont>
      <p:font typeface="Lato Bold" charset="1" panose="020F0502020204030203"/>
      <p:regular r:id="rId29"/>
    </p:embeddedFont>
    <p:embeddedFont>
      <p:font typeface="Canva Student Font" charset="1" panose="00000000000000000000"/>
      <p:regular r:id="rId30"/>
    </p:embeddedFont>
    <p:embeddedFont>
      <p:font typeface="Chewy" charset="1" panose="020000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Relationship Id="rId4" Target="../media/image7.jpeg" Type="http://schemas.openxmlformats.org/officeDocument/2006/relationships/image"/><Relationship Id="rId5" Target="../media/image8.jpeg" Type="http://schemas.openxmlformats.org/officeDocument/2006/relationships/image"/><Relationship Id="rId6" Target="../media/image9.jpeg" Type="http://schemas.openxmlformats.org/officeDocument/2006/relationships/image"/><Relationship Id="rId7" Target="../media/image10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jpeg" Type="http://schemas.openxmlformats.org/officeDocument/2006/relationships/image"/><Relationship Id="rId2" Target="../media/image15.jpeg" Type="http://schemas.openxmlformats.org/officeDocument/2006/relationships/image"/><Relationship Id="rId3" Target="../media/image16.jpeg" Type="http://schemas.openxmlformats.org/officeDocument/2006/relationships/image"/><Relationship Id="rId4" Target="../media/image17.jpeg" Type="http://schemas.openxmlformats.org/officeDocument/2006/relationships/image"/><Relationship Id="rId5" Target="../media/image18.jpeg" Type="http://schemas.openxmlformats.org/officeDocument/2006/relationships/image"/><Relationship Id="rId6" Target="../media/image19.jpeg" Type="http://schemas.openxmlformats.org/officeDocument/2006/relationships/image"/><Relationship Id="rId7" Target="../media/image20.jpeg" Type="http://schemas.openxmlformats.org/officeDocument/2006/relationships/image"/><Relationship Id="rId8" Target="../media/image21.jpeg" Type="http://schemas.openxmlformats.org/officeDocument/2006/relationships/image"/><Relationship Id="rId9" Target="../media/image22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Relationship Id="rId3" Target="../media/VAHIt8RCvrE.mp4" Type="http://schemas.openxmlformats.org/officeDocument/2006/relationships/video"/><Relationship Id="rId4" Target="../media/VAHIt8RCvrE.mp4" Type="http://schemas.microsoft.com/office/2007/relationships/media"/><Relationship Id="rId5" Target="../media/image25.jpeg" Type="http://schemas.openxmlformats.org/officeDocument/2006/relationships/image"/><Relationship Id="rId6" Target="../media/VAHIt4YACRY.mp4" Type="http://schemas.openxmlformats.org/officeDocument/2006/relationships/video"/><Relationship Id="rId7" Target="../media/VAHIt4YACRY.mp4" Type="http://schemas.microsoft.com/office/2007/relationships/media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4712497" y="4591188"/>
            <a:ext cx="225880" cy="5403316"/>
            <a:chOff x="0" y="0"/>
            <a:chExt cx="301173" cy="720442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301173" cy="7204422"/>
              <a:chOff x="0" y="0"/>
              <a:chExt cx="59491" cy="142309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59491" cy="1423096"/>
              </a:xfrm>
              <a:custGeom>
                <a:avLst/>
                <a:gdLst/>
                <a:ahLst/>
                <a:cxnLst/>
                <a:rect r="r" b="b" t="t" l="l"/>
                <a:pathLst>
                  <a:path h="1423096" w="59491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423096"/>
                    </a:lnTo>
                    <a:lnTo>
                      <a:pt x="0" y="1423096"/>
                    </a:lnTo>
                    <a:close/>
                  </a:path>
                </a:pathLst>
              </a:custGeom>
              <a:solidFill>
                <a:srgbClr val="7C898B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59491" cy="14611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79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301173" cy="1830478"/>
              <a:chOff x="0" y="0"/>
              <a:chExt cx="59491" cy="36157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59491" cy="361576"/>
              </a:xfrm>
              <a:custGeom>
                <a:avLst/>
                <a:gdLst/>
                <a:ahLst/>
                <a:cxnLst/>
                <a:rect r="r" b="b" t="t" l="l"/>
                <a:pathLst>
                  <a:path h="361576" w="59491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361576"/>
                    </a:lnTo>
                    <a:lnTo>
                      <a:pt x="0" y="361576"/>
                    </a:lnTo>
                    <a:close/>
                  </a:path>
                </a:pathLst>
              </a:custGeom>
              <a:solidFill>
                <a:srgbClr val="253439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59491" cy="39967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79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828197"/>
              <a:ext cx="301173" cy="795134"/>
              <a:chOff x="0" y="0"/>
              <a:chExt cx="59491" cy="15706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9491" cy="157064"/>
              </a:xfrm>
              <a:custGeom>
                <a:avLst/>
                <a:gdLst/>
                <a:ahLst/>
                <a:cxnLst/>
                <a:rect r="r" b="b" t="t" l="l"/>
                <a:pathLst>
                  <a:path h="157064" w="59491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57064"/>
                    </a:lnTo>
                    <a:lnTo>
                      <a:pt x="0" y="157064"/>
                    </a:lnTo>
                    <a:close/>
                  </a:path>
                </a:pathLst>
              </a:custGeom>
              <a:solidFill>
                <a:srgbClr val="B29E84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59491" cy="1951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79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-381720" y="-218676"/>
            <a:ext cx="1410420" cy="10724351"/>
            <a:chOff x="0" y="0"/>
            <a:chExt cx="371469" cy="28245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1469" cy="2824520"/>
            </a:xfrm>
            <a:custGeom>
              <a:avLst/>
              <a:gdLst/>
              <a:ahLst/>
              <a:cxnLst/>
              <a:rect r="r" b="b" t="t" l="l"/>
              <a:pathLst>
                <a:path h="2824520" w="371469">
                  <a:moveTo>
                    <a:pt x="0" y="0"/>
                  </a:moveTo>
                  <a:lnTo>
                    <a:pt x="371469" y="0"/>
                  </a:lnTo>
                  <a:lnTo>
                    <a:pt x="371469" y="2824520"/>
                  </a:lnTo>
                  <a:lnTo>
                    <a:pt x="0" y="2824520"/>
                  </a:lnTo>
                  <a:close/>
                </a:path>
              </a:pathLst>
            </a:custGeom>
            <a:solidFill>
              <a:srgbClr val="7C898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71469" cy="2862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-229320" y="-66276"/>
            <a:ext cx="1258020" cy="1655660"/>
            <a:chOff x="0" y="0"/>
            <a:chExt cx="331330" cy="43605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31330" cy="436059"/>
            </a:xfrm>
            <a:custGeom>
              <a:avLst/>
              <a:gdLst/>
              <a:ahLst/>
              <a:cxnLst/>
              <a:rect r="r" b="b" t="t" l="l"/>
              <a:pathLst>
                <a:path h="436059" w="331330">
                  <a:moveTo>
                    <a:pt x="0" y="0"/>
                  </a:moveTo>
                  <a:lnTo>
                    <a:pt x="331330" y="0"/>
                  </a:lnTo>
                  <a:lnTo>
                    <a:pt x="331330" y="436059"/>
                  </a:lnTo>
                  <a:lnTo>
                    <a:pt x="0" y="436059"/>
                  </a:lnTo>
                  <a:close/>
                </a:path>
              </a:pathLst>
            </a:custGeom>
            <a:solidFill>
              <a:srgbClr val="25343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31330" cy="4741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8223914" y="0"/>
            <a:ext cx="2885540" cy="1589384"/>
          </a:xfrm>
          <a:custGeom>
            <a:avLst/>
            <a:gdLst/>
            <a:ahLst/>
            <a:cxnLst/>
            <a:rect r="r" b="b" t="t" l="l"/>
            <a:pathLst>
              <a:path h="1589384" w="2885540">
                <a:moveTo>
                  <a:pt x="0" y="0"/>
                </a:moveTo>
                <a:lnTo>
                  <a:pt x="2885540" y="0"/>
                </a:lnTo>
                <a:lnTo>
                  <a:pt x="2885540" y="1589384"/>
                </a:lnTo>
                <a:lnTo>
                  <a:pt x="0" y="15893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992735" y="2614060"/>
            <a:ext cx="9750800" cy="4249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84"/>
              </a:lnSpc>
            </a:pPr>
            <a:r>
              <a:rPr lang="en-US" sz="8284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Hardware-Aware Real-Time Low-Light Image Enhancement for Lane Detection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616535" y="9470032"/>
            <a:ext cx="8457083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spc="-39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Praneel Vipul Vania (202201131)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spc="-39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 Aditya Sable (202201049)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10922" y="9470032"/>
            <a:ext cx="2429619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spc="-39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Under the guidance of: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spc="-39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 Prof. Pankaj Kumar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3796798" y="5153958"/>
            <a:ext cx="225880" cy="5403316"/>
            <a:chOff x="0" y="0"/>
            <a:chExt cx="301173" cy="720442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301173" cy="7204422"/>
              <a:chOff x="0" y="0"/>
              <a:chExt cx="59491" cy="142309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59491" cy="1423096"/>
              </a:xfrm>
              <a:custGeom>
                <a:avLst/>
                <a:gdLst/>
                <a:ahLst/>
                <a:cxnLst/>
                <a:rect r="r" b="b" t="t" l="l"/>
                <a:pathLst>
                  <a:path h="1423096" w="59491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423096"/>
                    </a:lnTo>
                    <a:lnTo>
                      <a:pt x="0" y="1423096"/>
                    </a:lnTo>
                    <a:close/>
                  </a:path>
                </a:pathLst>
              </a:custGeom>
              <a:solidFill>
                <a:srgbClr val="7C898B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59491" cy="14611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79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301173" cy="1830478"/>
              <a:chOff x="0" y="0"/>
              <a:chExt cx="59491" cy="36157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59491" cy="361576"/>
              </a:xfrm>
              <a:custGeom>
                <a:avLst/>
                <a:gdLst/>
                <a:ahLst/>
                <a:cxnLst/>
                <a:rect r="r" b="b" t="t" l="l"/>
                <a:pathLst>
                  <a:path h="361576" w="59491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361576"/>
                    </a:lnTo>
                    <a:lnTo>
                      <a:pt x="0" y="361576"/>
                    </a:lnTo>
                    <a:close/>
                  </a:path>
                </a:pathLst>
              </a:custGeom>
              <a:solidFill>
                <a:srgbClr val="253439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59491" cy="39967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79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828197"/>
              <a:ext cx="301173" cy="795134"/>
              <a:chOff x="0" y="0"/>
              <a:chExt cx="59491" cy="15706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9491" cy="157064"/>
              </a:xfrm>
              <a:custGeom>
                <a:avLst/>
                <a:gdLst/>
                <a:ahLst/>
                <a:cxnLst/>
                <a:rect r="r" b="b" t="t" l="l"/>
                <a:pathLst>
                  <a:path h="157064" w="59491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57064"/>
                    </a:lnTo>
                    <a:lnTo>
                      <a:pt x="0" y="157064"/>
                    </a:lnTo>
                    <a:close/>
                  </a:path>
                </a:pathLst>
              </a:custGeom>
              <a:solidFill>
                <a:srgbClr val="B29E84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59491" cy="1951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799"/>
                  </a:lnSpc>
                </a:pPr>
              </a:p>
            </p:txBody>
          </p:sp>
        </p:grpSp>
      </p:grpSp>
      <p:sp>
        <p:nvSpPr>
          <p:cNvPr name="Freeform 12" id="12"/>
          <p:cNvSpPr/>
          <p:nvPr/>
        </p:nvSpPr>
        <p:spPr>
          <a:xfrm flipH="false" flipV="false" rot="0">
            <a:off x="1208080" y="1551616"/>
            <a:ext cx="5076060" cy="2855284"/>
          </a:xfrm>
          <a:custGeom>
            <a:avLst/>
            <a:gdLst/>
            <a:ahLst/>
            <a:cxnLst/>
            <a:rect r="r" b="b" t="t" l="l"/>
            <a:pathLst>
              <a:path h="2855284" w="5076060">
                <a:moveTo>
                  <a:pt x="0" y="0"/>
                </a:moveTo>
                <a:lnTo>
                  <a:pt x="5076060" y="0"/>
                </a:lnTo>
                <a:lnTo>
                  <a:pt x="5076060" y="2855284"/>
                </a:lnTo>
                <a:lnTo>
                  <a:pt x="0" y="28552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08080" y="4628515"/>
            <a:ext cx="5568690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Problem Statement &amp; Motivation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543523" y="1294165"/>
            <a:ext cx="9012816" cy="7315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 spc="-59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Lane detection relies on clear visibility of road markings</a:t>
            </a:r>
          </a:p>
          <a:p>
            <a:pPr algn="l">
              <a:lnSpc>
                <a:spcPts val="4199"/>
              </a:lnSpc>
            </a:pPr>
          </a:p>
          <a:p>
            <a:pPr algn="l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 spc="-59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Low-light conditions reduce contrast and weaken edge information</a:t>
            </a:r>
          </a:p>
          <a:p>
            <a:pPr algn="l">
              <a:lnSpc>
                <a:spcPts val="4199"/>
              </a:lnSpc>
            </a:pPr>
          </a:p>
          <a:p>
            <a:pPr algn="l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 spc="-59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This leads to unstable or incorrect lane detection results</a:t>
            </a:r>
          </a:p>
          <a:p>
            <a:pPr algn="l">
              <a:lnSpc>
                <a:spcPts val="4199"/>
              </a:lnSpc>
            </a:pPr>
          </a:p>
          <a:p>
            <a:pPr algn="l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 spc="-59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Existing enhancement methods improve visibility but are often too slow for real-time use</a:t>
            </a:r>
          </a:p>
          <a:p>
            <a:pPr algn="l">
              <a:lnSpc>
                <a:spcPts val="4199"/>
              </a:lnSpc>
            </a:pPr>
          </a:p>
          <a:p>
            <a:pPr algn="l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 spc="-59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There is a need for an efficient real-time enhancement pipeline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29484" y="8977312"/>
            <a:ext cx="10829032" cy="50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 i="true" spc="-59" u="sng">
                <a:solidFill>
                  <a:srgbClr val="253439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Can we improve visibility while still maintaining real-time performance?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51352" y="1655199"/>
            <a:ext cx="14203723" cy="1060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994"/>
              </a:lnSpc>
              <a:spcBef>
                <a:spcPct val="0"/>
              </a:spcBef>
            </a:pPr>
            <a:r>
              <a:rPr lang="en-US" sz="7994" strike="noStrike" u="non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Project Evolution Overview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342854" y="3428899"/>
            <a:ext cx="3526424" cy="1281257"/>
            <a:chOff x="0" y="0"/>
            <a:chExt cx="928770" cy="3374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28770" cy="337450"/>
            </a:xfrm>
            <a:custGeom>
              <a:avLst/>
              <a:gdLst/>
              <a:ahLst/>
              <a:cxnLst/>
              <a:rect r="r" b="b" t="t" l="l"/>
              <a:pathLst>
                <a:path h="337450" w="928770">
                  <a:moveTo>
                    <a:pt x="0" y="0"/>
                  </a:moveTo>
                  <a:lnTo>
                    <a:pt x="928770" y="0"/>
                  </a:lnTo>
                  <a:lnTo>
                    <a:pt x="928770" y="337450"/>
                  </a:lnTo>
                  <a:lnTo>
                    <a:pt x="0" y="337450"/>
                  </a:lnTo>
                  <a:close/>
                </a:path>
              </a:pathLst>
            </a:custGeom>
            <a:ln w="19050" cap="sq">
              <a:solidFill>
                <a:srgbClr val="7C898B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928770" cy="37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  <a:r>
                <a:rPr lang="en-US" sz="1999" spc="-39">
                  <a:solidFill>
                    <a:srgbClr val="253439"/>
                  </a:solidFill>
                  <a:latin typeface="Lato"/>
                  <a:ea typeface="Lato"/>
                  <a:cs typeface="Lato"/>
                  <a:sym typeface="Lato"/>
                </a:rPr>
                <a:t>Research Paper on low-light image enhancement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872529" y="3428899"/>
            <a:ext cx="4745840" cy="5251451"/>
            <a:chOff x="0" y="0"/>
            <a:chExt cx="1249933" cy="13830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49933" cy="1383098"/>
            </a:xfrm>
            <a:custGeom>
              <a:avLst/>
              <a:gdLst/>
              <a:ahLst/>
              <a:cxnLst/>
              <a:rect r="r" b="b" t="t" l="l"/>
              <a:pathLst>
                <a:path h="1383098" w="1249933">
                  <a:moveTo>
                    <a:pt x="0" y="0"/>
                  </a:moveTo>
                  <a:lnTo>
                    <a:pt x="1249933" y="0"/>
                  </a:lnTo>
                  <a:lnTo>
                    <a:pt x="1249933" y="1383098"/>
                  </a:lnTo>
                  <a:lnTo>
                    <a:pt x="0" y="1383098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C898B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49933" cy="1421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511141" y="4267083"/>
            <a:ext cx="3526424" cy="1281257"/>
            <a:chOff x="0" y="0"/>
            <a:chExt cx="928770" cy="3374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28770" cy="337450"/>
            </a:xfrm>
            <a:custGeom>
              <a:avLst/>
              <a:gdLst/>
              <a:ahLst/>
              <a:cxnLst/>
              <a:rect r="r" b="b" t="t" l="l"/>
              <a:pathLst>
                <a:path h="337450" w="928770">
                  <a:moveTo>
                    <a:pt x="0" y="0"/>
                  </a:moveTo>
                  <a:lnTo>
                    <a:pt x="928770" y="0"/>
                  </a:lnTo>
                  <a:lnTo>
                    <a:pt x="928770" y="337450"/>
                  </a:lnTo>
                  <a:lnTo>
                    <a:pt x="0" y="337450"/>
                  </a:lnTo>
                  <a:close/>
                </a:path>
              </a:pathLst>
            </a:custGeom>
            <a:solidFill>
              <a:srgbClr val="F6F4F1"/>
            </a:solidFill>
            <a:ln w="19050" cap="sq">
              <a:solidFill>
                <a:srgbClr val="7C898B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28770" cy="37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en-US" sz="1999" spc="-39" strike="noStrike" u="none">
                  <a:solidFill>
                    <a:srgbClr val="253439"/>
                  </a:solidFill>
                  <a:latin typeface="Lato"/>
                  <a:ea typeface="Lato"/>
                  <a:cs typeface="Lato"/>
                  <a:sym typeface="Lato"/>
                </a:rPr>
                <a:t>Identified Limitations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511141" y="6497697"/>
            <a:ext cx="3526424" cy="1281257"/>
            <a:chOff x="0" y="0"/>
            <a:chExt cx="928770" cy="3374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28770" cy="337450"/>
            </a:xfrm>
            <a:custGeom>
              <a:avLst/>
              <a:gdLst/>
              <a:ahLst/>
              <a:cxnLst/>
              <a:rect r="r" b="b" t="t" l="l"/>
              <a:pathLst>
                <a:path h="337450" w="928770">
                  <a:moveTo>
                    <a:pt x="0" y="0"/>
                  </a:moveTo>
                  <a:lnTo>
                    <a:pt x="928770" y="0"/>
                  </a:lnTo>
                  <a:lnTo>
                    <a:pt x="928770" y="337450"/>
                  </a:lnTo>
                  <a:lnTo>
                    <a:pt x="0" y="337450"/>
                  </a:lnTo>
                  <a:close/>
                </a:path>
              </a:pathLst>
            </a:custGeom>
            <a:solidFill>
              <a:srgbClr val="F6F4F1"/>
            </a:solidFill>
            <a:ln w="19050" cap="sq">
              <a:solidFill>
                <a:srgbClr val="7C898B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928770" cy="37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en-US" sz="1999" spc="-39" strike="noStrike" u="none">
                  <a:solidFill>
                    <a:srgbClr val="253439"/>
                  </a:solidFill>
                  <a:latin typeface="Lato"/>
                  <a:ea typeface="Lato"/>
                  <a:cs typeface="Lato"/>
                  <a:sym typeface="Lato"/>
                </a:rPr>
                <a:t>Proposed Improvements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4869278" y="6054624"/>
            <a:ext cx="1003251" cy="0"/>
          </a:xfrm>
          <a:prstGeom prst="line">
            <a:avLst/>
          </a:prstGeom>
          <a:ln cap="flat" w="19050">
            <a:solidFill>
              <a:srgbClr val="7C898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-5400000">
            <a:off x="15477180" y="1990243"/>
            <a:ext cx="274763" cy="274763"/>
            <a:chOff x="0" y="0"/>
            <a:chExt cx="178795" cy="17879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8795" cy="178795"/>
            </a:xfrm>
            <a:custGeom>
              <a:avLst/>
              <a:gdLst/>
              <a:ahLst/>
              <a:cxnLst/>
              <a:rect r="r" b="b" t="t" l="l"/>
              <a:pathLst>
                <a:path h="178795" w="178795">
                  <a:moveTo>
                    <a:pt x="0" y="0"/>
                  </a:moveTo>
                  <a:lnTo>
                    <a:pt x="178795" y="0"/>
                  </a:lnTo>
                  <a:lnTo>
                    <a:pt x="178795" y="178795"/>
                  </a:lnTo>
                  <a:lnTo>
                    <a:pt x="0" y="178795"/>
                  </a:lnTo>
                  <a:close/>
                </a:path>
              </a:pathLst>
            </a:custGeom>
            <a:solidFill>
              <a:srgbClr val="25343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78795" cy="216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-5400000">
            <a:off x="16015926" y="1990243"/>
            <a:ext cx="274763" cy="274763"/>
            <a:chOff x="0" y="0"/>
            <a:chExt cx="178795" cy="17879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78795" cy="178795"/>
            </a:xfrm>
            <a:custGeom>
              <a:avLst/>
              <a:gdLst/>
              <a:ahLst/>
              <a:cxnLst/>
              <a:rect r="r" b="b" t="t" l="l"/>
              <a:pathLst>
                <a:path h="178795" w="178795">
                  <a:moveTo>
                    <a:pt x="0" y="0"/>
                  </a:moveTo>
                  <a:lnTo>
                    <a:pt x="178795" y="0"/>
                  </a:lnTo>
                  <a:lnTo>
                    <a:pt x="178795" y="178795"/>
                  </a:lnTo>
                  <a:lnTo>
                    <a:pt x="0" y="178795"/>
                  </a:lnTo>
                  <a:close/>
                </a:path>
              </a:pathLst>
            </a:custGeom>
            <a:solidFill>
              <a:srgbClr val="B29E84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78795" cy="216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-5400000">
            <a:off x="16554672" y="1990243"/>
            <a:ext cx="274763" cy="274763"/>
            <a:chOff x="0" y="0"/>
            <a:chExt cx="178795" cy="17879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78795" cy="178795"/>
            </a:xfrm>
            <a:custGeom>
              <a:avLst/>
              <a:gdLst/>
              <a:ahLst/>
              <a:cxnLst/>
              <a:rect r="r" b="b" t="t" l="l"/>
              <a:pathLst>
                <a:path h="178795" w="178795">
                  <a:moveTo>
                    <a:pt x="0" y="0"/>
                  </a:moveTo>
                  <a:lnTo>
                    <a:pt x="178795" y="0"/>
                  </a:lnTo>
                  <a:lnTo>
                    <a:pt x="178795" y="178795"/>
                  </a:lnTo>
                  <a:lnTo>
                    <a:pt x="0" y="178795"/>
                  </a:lnTo>
                  <a:close/>
                </a:path>
              </a:pathLst>
            </a:custGeom>
            <a:solidFill>
              <a:srgbClr val="7C898B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78795" cy="216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42854" y="5413995"/>
            <a:ext cx="3526424" cy="1281257"/>
            <a:chOff x="0" y="0"/>
            <a:chExt cx="928770" cy="3374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28770" cy="337450"/>
            </a:xfrm>
            <a:custGeom>
              <a:avLst/>
              <a:gdLst/>
              <a:ahLst/>
              <a:cxnLst/>
              <a:rect r="r" b="b" t="t" l="l"/>
              <a:pathLst>
                <a:path h="337450" w="928770">
                  <a:moveTo>
                    <a:pt x="0" y="0"/>
                  </a:moveTo>
                  <a:lnTo>
                    <a:pt x="928770" y="0"/>
                  </a:lnTo>
                  <a:lnTo>
                    <a:pt x="928770" y="337450"/>
                  </a:lnTo>
                  <a:lnTo>
                    <a:pt x="0" y="337450"/>
                  </a:lnTo>
                  <a:close/>
                </a:path>
              </a:pathLst>
            </a:custGeom>
            <a:ln w="19050" cap="sq">
              <a:solidFill>
                <a:srgbClr val="7C898B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928770" cy="37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  <a:r>
                <a:rPr lang="en-US" sz="1999" spc="-39">
                  <a:solidFill>
                    <a:srgbClr val="253439"/>
                  </a:solidFill>
                  <a:latin typeface="Lato"/>
                  <a:ea typeface="Lato"/>
                  <a:cs typeface="Lato"/>
                  <a:sym typeface="Lato"/>
                </a:rPr>
                <a:t>Implementation</a:t>
              </a:r>
            </a:p>
          </p:txBody>
        </p:sp>
      </p:grpSp>
      <p:sp>
        <p:nvSpPr>
          <p:cNvPr name="AutoShape 28" id="28"/>
          <p:cNvSpPr/>
          <p:nvPr/>
        </p:nvSpPr>
        <p:spPr>
          <a:xfrm>
            <a:off x="3106066" y="4710156"/>
            <a:ext cx="0" cy="703840"/>
          </a:xfrm>
          <a:prstGeom prst="line">
            <a:avLst/>
          </a:prstGeom>
          <a:ln cap="flat" w="19050">
            <a:solidFill>
              <a:srgbClr val="7C898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9" id="29"/>
          <p:cNvGrpSpPr/>
          <p:nvPr/>
        </p:nvGrpSpPr>
        <p:grpSpPr>
          <a:xfrm rot="0">
            <a:off x="11621620" y="3428899"/>
            <a:ext cx="2221932" cy="1281257"/>
            <a:chOff x="0" y="0"/>
            <a:chExt cx="585200" cy="3374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85200" cy="337450"/>
            </a:xfrm>
            <a:custGeom>
              <a:avLst/>
              <a:gdLst/>
              <a:ahLst/>
              <a:cxnLst/>
              <a:rect r="r" b="b" t="t" l="l"/>
              <a:pathLst>
                <a:path h="337450" w="585200">
                  <a:moveTo>
                    <a:pt x="0" y="0"/>
                  </a:moveTo>
                  <a:lnTo>
                    <a:pt x="585200" y="0"/>
                  </a:lnTo>
                  <a:lnTo>
                    <a:pt x="585200" y="337450"/>
                  </a:lnTo>
                  <a:lnTo>
                    <a:pt x="0" y="337450"/>
                  </a:lnTo>
                  <a:close/>
                </a:path>
              </a:pathLst>
            </a:custGeom>
            <a:ln w="19050" cap="sq">
              <a:solidFill>
                <a:srgbClr val="7C898B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585200" cy="37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  <a:r>
                <a:rPr lang="en-US" sz="1999" spc="-39">
                  <a:solidFill>
                    <a:srgbClr val="253439"/>
                  </a:solidFill>
                  <a:latin typeface="Lato"/>
                  <a:ea typeface="Lato"/>
                  <a:cs typeface="Lato"/>
                  <a:sym typeface="Lato"/>
                </a:rPr>
                <a:t>Integrated with Lane Detection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>
            <a:off x="10618369" y="4060002"/>
            <a:ext cx="1003251" cy="0"/>
          </a:xfrm>
          <a:prstGeom prst="line">
            <a:avLst/>
          </a:prstGeom>
          <a:ln cap="flat" w="19050">
            <a:solidFill>
              <a:srgbClr val="7C898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3" id="33"/>
          <p:cNvSpPr/>
          <p:nvPr/>
        </p:nvSpPr>
        <p:spPr>
          <a:xfrm flipH="false" flipV="false" rot="0">
            <a:off x="-282648" y="3294062"/>
            <a:ext cx="23199308" cy="9542016"/>
          </a:xfrm>
          <a:custGeom>
            <a:avLst/>
            <a:gdLst/>
            <a:ahLst/>
            <a:cxnLst/>
            <a:rect r="r" b="b" t="t" l="l"/>
            <a:pathLst>
              <a:path h="9542016" w="23199308">
                <a:moveTo>
                  <a:pt x="0" y="0"/>
                </a:moveTo>
                <a:lnTo>
                  <a:pt x="23199309" y="0"/>
                </a:lnTo>
                <a:lnTo>
                  <a:pt x="23199309" y="9542016"/>
                </a:lnTo>
                <a:lnTo>
                  <a:pt x="0" y="95420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534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68033" y="2182989"/>
            <a:ext cx="6090065" cy="1060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994"/>
              </a:lnSpc>
              <a:spcBef>
                <a:spcPct val="0"/>
              </a:spcBef>
            </a:pPr>
            <a:r>
              <a:rPr lang="en-US" sz="7994" strike="noStrike" u="non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Method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33589" y="3791303"/>
            <a:ext cx="7148399" cy="480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pc="-49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Imag</a:t>
            </a:r>
            <a:r>
              <a:rPr lang="en-US" sz="2499" spc="-49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e converted from RGB to HSV color space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pc="-49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Illumination estimated using Gaussian filtering on V channel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pc="-49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Adaptive b</a:t>
            </a:r>
            <a:r>
              <a:rPr lang="en-US" sz="2499" spc="-49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rightness enhancement applied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pc="-49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Two enhanced outputs (V1 and V2) generated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pc="-49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Wavelet fusion (max rule) used to combine results</a:t>
            </a:r>
          </a:p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</a:p>
        </p:txBody>
      </p:sp>
      <p:grpSp>
        <p:nvGrpSpPr>
          <p:cNvPr name="Group 4" id="4"/>
          <p:cNvGrpSpPr/>
          <p:nvPr/>
        </p:nvGrpSpPr>
        <p:grpSpPr>
          <a:xfrm rot="5400000">
            <a:off x="-179920" y="891319"/>
            <a:ext cx="1352255" cy="274763"/>
            <a:chOff x="0" y="0"/>
            <a:chExt cx="1803007" cy="366350"/>
          </a:xfrm>
        </p:grpSpPr>
        <p:grpSp>
          <p:nvGrpSpPr>
            <p:cNvPr name="Group 5" id="5"/>
            <p:cNvGrpSpPr/>
            <p:nvPr/>
          </p:nvGrpSpPr>
          <p:grpSpPr>
            <a:xfrm rot="-5400000">
              <a:off x="0" y="0"/>
              <a:ext cx="366350" cy="366350"/>
              <a:chOff x="0" y="0"/>
              <a:chExt cx="178795" cy="178795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78795" cy="178795"/>
              </a:xfrm>
              <a:custGeom>
                <a:avLst/>
                <a:gdLst/>
                <a:ahLst/>
                <a:cxnLst/>
                <a:rect r="r" b="b" t="t" l="l"/>
                <a:pathLst>
                  <a:path h="178795" w="178795">
                    <a:moveTo>
                      <a:pt x="0" y="0"/>
                    </a:moveTo>
                    <a:lnTo>
                      <a:pt x="178795" y="0"/>
                    </a:lnTo>
                    <a:lnTo>
                      <a:pt x="178795" y="178795"/>
                    </a:lnTo>
                    <a:lnTo>
                      <a:pt x="0" y="178795"/>
                    </a:lnTo>
                    <a:close/>
                  </a:path>
                </a:pathLst>
              </a:custGeom>
              <a:solidFill>
                <a:srgbClr val="253439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78795" cy="2168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799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-5400000">
              <a:off x="718328" y="0"/>
              <a:ext cx="366350" cy="366350"/>
              <a:chOff x="0" y="0"/>
              <a:chExt cx="178795" cy="178795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78795" cy="178795"/>
              </a:xfrm>
              <a:custGeom>
                <a:avLst/>
                <a:gdLst/>
                <a:ahLst/>
                <a:cxnLst/>
                <a:rect r="r" b="b" t="t" l="l"/>
                <a:pathLst>
                  <a:path h="178795" w="178795">
                    <a:moveTo>
                      <a:pt x="0" y="0"/>
                    </a:moveTo>
                    <a:lnTo>
                      <a:pt x="178795" y="0"/>
                    </a:lnTo>
                    <a:lnTo>
                      <a:pt x="178795" y="178795"/>
                    </a:lnTo>
                    <a:lnTo>
                      <a:pt x="0" y="178795"/>
                    </a:lnTo>
                    <a:close/>
                  </a:path>
                </a:pathLst>
              </a:custGeom>
              <a:solidFill>
                <a:srgbClr val="B29E84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178795" cy="2168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799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-5400000">
              <a:off x="1436657" y="0"/>
              <a:ext cx="366350" cy="366350"/>
              <a:chOff x="0" y="0"/>
              <a:chExt cx="178795" cy="178795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78795" cy="178795"/>
              </a:xfrm>
              <a:custGeom>
                <a:avLst/>
                <a:gdLst/>
                <a:ahLst/>
                <a:cxnLst/>
                <a:rect r="r" b="b" t="t" l="l"/>
                <a:pathLst>
                  <a:path h="178795" w="178795">
                    <a:moveTo>
                      <a:pt x="0" y="0"/>
                    </a:moveTo>
                    <a:lnTo>
                      <a:pt x="178795" y="0"/>
                    </a:lnTo>
                    <a:lnTo>
                      <a:pt x="178795" y="178795"/>
                    </a:lnTo>
                    <a:lnTo>
                      <a:pt x="0" y="178795"/>
                    </a:lnTo>
                    <a:close/>
                  </a:path>
                </a:pathLst>
              </a:custGeom>
              <a:solidFill>
                <a:srgbClr val="7C898B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178795" cy="2168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799"/>
                  </a:lnSpc>
                </a:pPr>
              </a:p>
            </p:txBody>
          </p:sp>
        </p:grpSp>
      </p:grpSp>
      <p:sp>
        <p:nvSpPr>
          <p:cNvPr name="AutoShape 14" id="14"/>
          <p:cNvSpPr/>
          <p:nvPr/>
        </p:nvSpPr>
        <p:spPr>
          <a:xfrm>
            <a:off x="9334290" y="1704827"/>
            <a:ext cx="0" cy="7553473"/>
          </a:xfrm>
          <a:prstGeom prst="line">
            <a:avLst/>
          </a:prstGeom>
          <a:ln cap="flat" w="38100">
            <a:solidFill>
              <a:srgbClr val="000000">
                <a:alpha val="4078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11169235" y="2182989"/>
            <a:ext cx="6090065" cy="1060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994"/>
              </a:lnSpc>
              <a:spcBef>
                <a:spcPct val="0"/>
              </a:spcBef>
            </a:pPr>
            <a:r>
              <a:rPr lang="en-US" sz="7994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Limitations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67711" y="3791303"/>
            <a:ext cx="7148399" cy="305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pc="-49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Gaussian filtering causes edge blurring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pc="-49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Over-enhancement in already bright regions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pc="-49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Noise amplification in dark areas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31367" y="1181100"/>
            <a:ext cx="6542356" cy="2091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074"/>
              </a:lnSpc>
              <a:spcBef>
                <a:spcPct val="0"/>
              </a:spcBef>
            </a:pPr>
            <a:r>
              <a:rPr lang="en-US" sz="8074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Proposed Improvements</a:t>
            </a:r>
          </a:p>
        </p:txBody>
      </p:sp>
      <p:grpSp>
        <p:nvGrpSpPr>
          <p:cNvPr name="Group 3" id="3"/>
          <p:cNvGrpSpPr/>
          <p:nvPr/>
        </p:nvGrpSpPr>
        <p:grpSpPr>
          <a:xfrm rot="-5400000">
            <a:off x="8020085" y="816470"/>
            <a:ext cx="225880" cy="5403316"/>
            <a:chOff x="0" y="0"/>
            <a:chExt cx="301173" cy="7204422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301173" cy="7204422"/>
              <a:chOff x="0" y="0"/>
              <a:chExt cx="59491" cy="1423096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59491" cy="1423096"/>
              </a:xfrm>
              <a:custGeom>
                <a:avLst/>
                <a:gdLst/>
                <a:ahLst/>
                <a:cxnLst/>
                <a:rect r="r" b="b" t="t" l="l"/>
                <a:pathLst>
                  <a:path h="1423096" w="59491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423096"/>
                    </a:lnTo>
                    <a:lnTo>
                      <a:pt x="0" y="1423096"/>
                    </a:lnTo>
                    <a:close/>
                  </a:path>
                </a:pathLst>
              </a:custGeom>
              <a:solidFill>
                <a:srgbClr val="7C898B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59491" cy="14611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79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0"/>
              <a:ext cx="301173" cy="1830478"/>
              <a:chOff x="0" y="0"/>
              <a:chExt cx="59491" cy="361576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59491" cy="361576"/>
              </a:xfrm>
              <a:custGeom>
                <a:avLst/>
                <a:gdLst/>
                <a:ahLst/>
                <a:cxnLst/>
                <a:rect r="r" b="b" t="t" l="l"/>
                <a:pathLst>
                  <a:path h="361576" w="59491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361576"/>
                    </a:lnTo>
                    <a:lnTo>
                      <a:pt x="0" y="361576"/>
                    </a:lnTo>
                    <a:close/>
                  </a:path>
                </a:pathLst>
              </a:custGeom>
              <a:solidFill>
                <a:srgbClr val="253439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59491" cy="39967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79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1828197"/>
              <a:ext cx="301173" cy="795134"/>
              <a:chOff x="0" y="0"/>
              <a:chExt cx="59491" cy="157064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59491" cy="157064"/>
              </a:xfrm>
              <a:custGeom>
                <a:avLst/>
                <a:gdLst/>
                <a:ahLst/>
                <a:cxnLst/>
                <a:rect r="r" b="b" t="t" l="l"/>
                <a:pathLst>
                  <a:path h="157064" w="59491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57064"/>
                    </a:lnTo>
                    <a:lnTo>
                      <a:pt x="0" y="157064"/>
                    </a:lnTo>
                    <a:close/>
                  </a:path>
                </a:pathLst>
              </a:custGeom>
              <a:solidFill>
                <a:srgbClr val="B29E84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59491" cy="1951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799"/>
                  </a:lnSpc>
                </a:pPr>
              </a:p>
            </p:txBody>
          </p:sp>
        </p:grpSp>
      </p:grpSp>
      <p:sp>
        <p:nvSpPr>
          <p:cNvPr name="TextBox 13" id="13"/>
          <p:cNvSpPr txBox="true"/>
          <p:nvPr/>
        </p:nvSpPr>
        <p:spPr>
          <a:xfrm rot="0">
            <a:off x="3746945" y="4238744"/>
            <a:ext cx="10295781" cy="480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39746" indent="-269873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pc="-49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Replaced Gaussian filter with guided filter for better edge preservation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</a:p>
          <a:p>
            <a:pPr algn="ctr">
              <a:lnSpc>
                <a:spcPts val="3499"/>
              </a:lnSpc>
              <a:spcBef>
                <a:spcPct val="0"/>
              </a:spcBef>
            </a:pPr>
          </a:p>
          <a:p>
            <a:pPr algn="ctr" marL="539746" indent="-269873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pc="-49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Introduced darkness-based adaptive scaling to avoid over-enhancement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</a:p>
          <a:p>
            <a:pPr algn="ctr">
              <a:lnSpc>
                <a:spcPts val="3499"/>
              </a:lnSpc>
              <a:spcBef>
                <a:spcPct val="0"/>
              </a:spcBef>
            </a:pPr>
          </a:p>
          <a:p>
            <a:pPr algn="ctr" marL="539746" indent="-269873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pc="-49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Applied variance-based wavelet fusion for smoother and stable results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</a:p>
          <a:p>
            <a:pPr algn="ctr">
              <a:lnSpc>
                <a:spcPts val="3499"/>
              </a:lnSpc>
              <a:spcBef>
                <a:spcPct val="0"/>
              </a:spcBef>
            </a:pPr>
          </a:p>
          <a:p>
            <a:pPr algn="ctr" marL="539746" indent="-269873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pc="-49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Improved overall enhancement quality while maintaining structural details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17103111" y="-218676"/>
            <a:ext cx="1410420" cy="10724351"/>
            <a:chOff x="0" y="0"/>
            <a:chExt cx="371469" cy="282452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71469" cy="2824520"/>
            </a:xfrm>
            <a:custGeom>
              <a:avLst/>
              <a:gdLst/>
              <a:ahLst/>
              <a:cxnLst/>
              <a:rect r="r" b="b" t="t" l="l"/>
              <a:pathLst>
                <a:path h="2824520" w="371469">
                  <a:moveTo>
                    <a:pt x="0" y="0"/>
                  </a:moveTo>
                  <a:lnTo>
                    <a:pt x="371469" y="0"/>
                  </a:lnTo>
                  <a:lnTo>
                    <a:pt x="371469" y="2824520"/>
                  </a:lnTo>
                  <a:lnTo>
                    <a:pt x="0" y="2824520"/>
                  </a:lnTo>
                  <a:close/>
                </a:path>
              </a:pathLst>
            </a:custGeom>
            <a:solidFill>
              <a:srgbClr val="B29E8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71469" cy="2862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03111" y="-66276"/>
            <a:ext cx="1258020" cy="1655660"/>
            <a:chOff x="0" y="0"/>
            <a:chExt cx="331330" cy="43605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31330" cy="436059"/>
            </a:xfrm>
            <a:custGeom>
              <a:avLst/>
              <a:gdLst/>
              <a:ahLst/>
              <a:cxnLst/>
              <a:rect r="r" b="b" t="t" l="l"/>
              <a:pathLst>
                <a:path h="436059" w="331330">
                  <a:moveTo>
                    <a:pt x="0" y="0"/>
                  </a:moveTo>
                  <a:lnTo>
                    <a:pt x="331330" y="0"/>
                  </a:lnTo>
                  <a:lnTo>
                    <a:pt x="331330" y="436059"/>
                  </a:lnTo>
                  <a:lnTo>
                    <a:pt x="0" y="436059"/>
                  </a:lnTo>
                  <a:close/>
                </a:path>
              </a:pathLst>
            </a:custGeom>
            <a:solidFill>
              <a:srgbClr val="25343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31330" cy="4741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-152400" y="0"/>
            <a:ext cx="1410420" cy="10724351"/>
            <a:chOff x="0" y="0"/>
            <a:chExt cx="371469" cy="282452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71469" cy="2824520"/>
            </a:xfrm>
            <a:custGeom>
              <a:avLst/>
              <a:gdLst/>
              <a:ahLst/>
              <a:cxnLst/>
              <a:rect r="r" b="b" t="t" l="l"/>
              <a:pathLst>
                <a:path h="2824520" w="371469">
                  <a:moveTo>
                    <a:pt x="0" y="0"/>
                  </a:moveTo>
                  <a:lnTo>
                    <a:pt x="371469" y="0"/>
                  </a:lnTo>
                  <a:lnTo>
                    <a:pt x="371469" y="2824520"/>
                  </a:lnTo>
                  <a:lnTo>
                    <a:pt x="0" y="2824520"/>
                  </a:lnTo>
                  <a:close/>
                </a:path>
              </a:pathLst>
            </a:custGeom>
            <a:solidFill>
              <a:srgbClr val="B29E8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71469" cy="2862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0" y="0"/>
            <a:ext cx="1258020" cy="1655660"/>
            <a:chOff x="0" y="0"/>
            <a:chExt cx="331330" cy="43605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31330" cy="436059"/>
            </a:xfrm>
            <a:custGeom>
              <a:avLst/>
              <a:gdLst/>
              <a:ahLst/>
              <a:cxnLst/>
              <a:rect r="r" b="b" t="t" l="l"/>
              <a:pathLst>
                <a:path h="436059" w="331330">
                  <a:moveTo>
                    <a:pt x="0" y="0"/>
                  </a:moveTo>
                  <a:lnTo>
                    <a:pt x="331330" y="0"/>
                  </a:lnTo>
                  <a:lnTo>
                    <a:pt x="331330" y="436059"/>
                  </a:lnTo>
                  <a:lnTo>
                    <a:pt x="0" y="436059"/>
                  </a:lnTo>
                  <a:close/>
                </a:path>
              </a:pathLst>
            </a:custGeom>
            <a:solidFill>
              <a:srgbClr val="25343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31330" cy="4741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-5400000">
            <a:off x="8020085" y="-1873828"/>
            <a:ext cx="225880" cy="5403316"/>
            <a:chOff x="0" y="0"/>
            <a:chExt cx="301173" cy="7204422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301173" cy="7204422"/>
              <a:chOff x="0" y="0"/>
              <a:chExt cx="59491" cy="1423096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59491" cy="1423096"/>
              </a:xfrm>
              <a:custGeom>
                <a:avLst/>
                <a:gdLst/>
                <a:ahLst/>
                <a:cxnLst/>
                <a:rect r="r" b="b" t="t" l="l"/>
                <a:pathLst>
                  <a:path h="1423096" w="59491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423096"/>
                    </a:lnTo>
                    <a:lnTo>
                      <a:pt x="0" y="1423096"/>
                    </a:lnTo>
                    <a:close/>
                  </a:path>
                </a:pathLst>
              </a:custGeom>
              <a:solidFill>
                <a:srgbClr val="7C898B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59491" cy="14611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799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0" y="0"/>
              <a:ext cx="301173" cy="1830478"/>
              <a:chOff x="0" y="0"/>
              <a:chExt cx="59491" cy="361576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59491" cy="361576"/>
              </a:xfrm>
              <a:custGeom>
                <a:avLst/>
                <a:gdLst/>
                <a:ahLst/>
                <a:cxnLst/>
                <a:rect r="r" b="b" t="t" l="l"/>
                <a:pathLst>
                  <a:path h="361576" w="59491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361576"/>
                    </a:lnTo>
                    <a:lnTo>
                      <a:pt x="0" y="361576"/>
                    </a:lnTo>
                    <a:close/>
                  </a:path>
                </a:pathLst>
              </a:custGeom>
              <a:solidFill>
                <a:srgbClr val="253439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59491" cy="39967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799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0" y="1828197"/>
              <a:ext cx="301173" cy="795134"/>
              <a:chOff x="0" y="0"/>
              <a:chExt cx="59491" cy="157064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59491" cy="157064"/>
              </a:xfrm>
              <a:custGeom>
                <a:avLst/>
                <a:gdLst/>
                <a:ahLst/>
                <a:cxnLst/>
                <a:rect r="r" b="b" t="t" l="l"/>
                <a:pathLst>
                  <a:path h="157064" w="59491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57064"/>
                    </a:lnTo>
                    <a:lnTo>
                      <a:pt x="0" y="157064"/>
                    </a:lnTo>
                    <a:close/>
                  </a:path>
                </a:pathLst>
              </a:custGeom>
              <a:solidFill>
                <a:srgbClr val="B29E84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38100"/>
                <a:ext cx="59491" cy="1951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799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50322" y="1146077"/>
            <a:ext cx="10987356" cy="119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999"/>
              </a:lnSpc>
              <a:spcBef>
                <a:spcPct val="0"/>
              </a:spcBef>
            </a:pPr>
            <a:r>
              <a:rPr lang="en-US" sz="8999" i="true" u="sng">
                <a:solidFill>
                  <a:srgbClr val="253439"/>
                </a:solidFill>
                <a:latin typeface="Lato Italics"/>
                <a:ea typeface="Lato Italics"/>
                <a:cs typeface="Lato Italics"/>
                <a:sym typeface="Lato Italics"/>
              </a:rPr>
              <a:t>Ex</a:t>
            </a:r>
            <a:r>
              <a:rPr lang="en-US" sz="8999" i="true" u="sng">
                <a:solidFill>
                  <a:srgbClr val="253439"/>
                </a:solidFill>
                <a:latin typeface="Lato Italics"/>
                <a:ea typeface="Lato Italics"/>
                <a:cs typeface="Lato Italics"/>
                <a:sym typeface="Lato Italics"/>
              </a:rPr>
              <a:t>plored Approaches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7103111" y="-218676"/>
            <a:ext cx="1410420" cy="10724351"/>
            <a:chOff x="0" y="0"/>
            <a:chExt cx="371469" cy="282452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1469" cy="2824520"/>
            </a:xfrm>
            <a:custGeom>
              <a:avLst/>
              <a:gdLst/>
              <a:ahLst/>
              <a:cxnLst/>
              <a:rect r="r" b="b" t="t" l="l"/>
              <a:pathLst>
                <a:path h="2824520" w="371469">
                  <a:moveTo>
                    <a:pt x="0" y="0"/>
                  </a:moveTo>
                  <a:lnTo>
                    <a:pt x="371469" y="0"/>
                  </a:lnTo>
                  <a:lnTo>
                    <a:pt x="371469" y="2824520"/>
                  </a:lnTo>
                  <a:lnTo>
                    <a:pt x="0" y="2824520"/>
                  </a:lnTo>
                  <a:close/>
                </a:path>
              </a:pathLst>
            </a:custGeom>
            <a:solidFill>
              <a:srgbClr val="B29E8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71469" cy="2862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103111" y="-66276"/>
            <a:ext cx="1258020" cy="1655660"/>
            <a:chOff x="0" y="0"/>
            <a:chExt cx="331330" cy="43605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1330" cy="436059"/>
            </a:xfrm>
            <a:custGeom>
              <a:avLst/>
              <a:gdLst/>
              <a:ahLst/>
              <a:cxnLst/>
              <a:rect r="r" b="b" t="t" l="l"/>
              <a:pathLst>
                <a:path h="436059" w="331330">
                  <a:moveTo>
                    <a:pt x="0" y="0"/>
                  </a:moveTo>
                  <a:lnTo>
                    <a:pt x="331330" y="0"/>
                  </a:lnTo>
                  <a:lnTo>
                    <a:pt x="331330" y="436059"/>
                  </a:lnTo>
                  <a:lnTo>
                    <a:pt x="0" y="436059"/>
                  </a:lnTo>
                  <a:close/>
                </a:path>
              </a:pathLst>
            </a:custGeom>
            <a:solidFill>
              <a:srgbClr val="25343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31330" cy="4741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52400" y="0"/>
            <a:ext cx="1410420" cy="10724351"/>
            <a:chOff x="0" y="0"/>
            <a:chExt cx="371469" cy="28245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1469" cy="2824520"/>
            </a:xfrm>
            <a:custGeom>
              <a:avLst/>
              <a:gdLst/>
              <a:ahLst/>
              <a:cxnLst/>
              <a:rect r="r" b="b" t="t" l="l"/>
              <a:pathLst>
                <a:path h="2824520" w="371469">
                  <a:moveTo>
                    <a:pt x="0" y="0"/>
                  </a:moveTo>
                  <a:lnTo>
                    <a:pt x="371469" y="0"/>
                  </a:lnTo>
                  <a:lnTo>
                    <a:pt x="371469" y="2824520"/>
                  </a:lnTo>
                  <a:lnTo>
                    <a:pt x="0" y="2824520"/>
                  </a:lnTo>
                  <a:close/>
                </a:path>
              </a:pathLst>
            </a:custGeom>
            <a:solidFill>
              <a:srgbClr val="B29E8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71469" cy="2862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0" y="0"/>
            <a:ext cx="1258020" cy="1655660"/>
            <a:chOff x="0" y="0"/>
            <a:chExt cx="331330" cy="43605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1330" cy="436059"/>
            </a:xfrm>
            <a:custGeom>
              <a:avLst/>
              <a:gdLst/>
              <a:ahLst/>
              <a:cxnLst/>
              <a:rect r="r" b="b" t="t" l="l"/>
              <a:pathLst>
                <a:path h="436059" w="331330">
                  <a:moveTo>
                    <a:pt x="0" y="0"/>
                  </a:moveTo>
                  <a:lnTo>
                    <a:pt x="331330" y="0"/>
                  </a:lnTo>
                  <a:lnTo>
                    <a:pt x="331330" y="436059"/>
                  </a:lnTo>
                  <a:lnTo>
                    <a:pt x="0" y="436059"/>
                  </a:lnTo>
                  <a:close/>
                </a:path>
              </a:pathLst>
            </a:custGeom>
            <a:solidFill>
              <a:srgbClr val="25343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31330" cy="4741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679002" y="3591760"/>
            <a:ext cx="7052965" cy="403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 spc="-59">
                <a:solidFill>
                  <a:srgbClr val="253439"/>
                </a:solidFill>
                <a:latin typeface="Lato Bold"/>
                <a:ea typeface="Lato Bold"/>
                <a:cs typeface="Lato Bold"/>
                <a:sym typeface="Lato Bold"/>
              </a:rPr>
              <a:t>HSV-Based Enhancement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spc="-39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HSV → Gaussian Illumination → Adaptive Scaling → Output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</a:p>
          <a:p>
            <a:pPr algn="ctr">
              <a:lnSpc>
                <a:spcPts val="2799"/>
              </a:lnSpc>
              <a:spcBef>
                <a:spcPct val="0"/>
              </a:spcBef>
            </a:pP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 spc="-59">
                <a:solidFill>
                  <a:srgbClr val="253439"/>
                </a:solidFill>
                <a:latin typeface="Lato Bold"/>
                <a:ea typeface="Lato Bold"/>
                <a:cs typeface="Lato Bold"/>
                <a:sym typeface="Lato Bold"/>
              </a:rPr>
              <a:t>Multi-Scale Illumination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spc="-39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HSV → Multi-Scale Gaussian → Adaptive Enhancement → Output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</a:p>
          <a:p>
            <a:pPr algn="ctr">
              <a:lnSpc>
                <a:spcPts val="2799"/>
              </a:lnSpc>
              <a:spcBef>
                <a:spcPct val="0"/>
              </a:spcBef>
            </a:pP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 spc="-59">
                <a:solidFill>
                  <a:srgbClr val="253439"/>
                </a:solidFill>
                <a:latin typeface="Lato Bold"/>
                <a:ea typeface="Lato Bold"/>
                <a:cs typeface="Lato Bold"/>
                <a:sym typeface="Lato Bold"/>
              </a:rPr>
              <a:t>Gamma + CLAHE Pipeline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spc="-39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HSV → Gamma Correction → CLAHE → Denoising → Output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72258" y="3591760"/>
            <a:ext cx="6747421" cy="438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 spc="-59">
                <a:solidFill>
                  <a:srgbClr val="253439"/>
                </a:solidFill>
                <a:latin typeface="Lato Bold"/>
                <a:ea typeface="Lato Bold"/>
                <a:cs typeface="Lato Bold"/>
                <a:sym typeface="Lato Bold"/>
              </a:rPr>
              <a:t>Retinex-Based Enhancement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spc="-39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HSV → Illumination Estimation → Retinex → CLAHE → Output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</a:p>
          <a:p>
            <a:pPr algn="ctr">
              <a:lnSpc>
                <a:spcPts val="2799"/>
              </a:lnSpc>
              <a:spcBef>
                <a:spcPct val="0"/>
              </a:spcBef>
            </a:pP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 spc="-59">
                <a:solidFill>
                  <a:srgbClr val="253439"/>
                </a:solidFill>
                <a:latin typeface="Lato Bold"/>
                <a:ea typeface="Lato Bold"/>
                <a:cs typeface="Lato Bold"/>
                <a:sym typeface="Lato Bold"/>
              </a:rPr>
              <a:t>Fusion-Based Method (Paper)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spc="-39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HSV → Dual Outputs → Wavelet Fusion (Max Rule) → Output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</a:p>
          <a:p>
            <a:pPr algn="ctr">
              <a:lnSpc>
                <a:spcPts val="2799"/>
              </a:lnSpc>
              <a:spcBef>
                <a:spcPct val="0"/>
              </a:spcBef>
            </a:pP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 spc="-59">
                <a:solidFill>
                  <a:srgbClr val="253439"/>
                </a:solidFill>
                <a:latin typeface="Lato Bold"/>
                <a:ea typeface="Lato Bold"/>
                <a:cs typeface="Lato Bold"/>
                <a:sym typeface="Lato Bold"/>
              </a:rPr>
              <a:t>Final Selected Pipeline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spc="-39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HSV → Guided Filter → Adaptive Scaling → Dual Outputs →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spc="-39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 Wavelet → Variance Fusion → Output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454697" y="8824161"/>
            <a:ext cx="6554539" cy="45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spc="-51" u="sng">
                <a:solidFill>
                  <a:srgbClr val="253439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All of the above approaches were tested on a dataset of 50 images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103111" y="-218676"/>
            <a:ext cx="1410420" cy="10724351"/>
            <a:chOff x="0" y="0"/>
            <a:chExt cx="371469" cy="28245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1469" cy="2824520"/>
            </a:xfrm>
            <a:custGeom>
              <a:avLst/>
              <a:gdLst/>
              <a:ahLst/>
              <a:cxnLst/>
              <a:rect r="r" b="b" t="t" l="l"/>
              <a:pathLst>
                <a:path h="2824520" w="371469">
                  <a:moveTo>
                    <a:pt x="0" y="0"/>
                  </a:moveTo>
                  <a:lnTo>
                    <a:pt x="371469" y="0"/>
                  </a:lnTo>
                  <a:lnTo>
                    <a:pt x="371469" y="2824520"/>
                  </a:lnTo>
                  <a:lnTo>
                    <a:pt x="0" y="2824520"/>
                  </a:lnTo>
                  <a:close/>
                </a:path>
              </a:pathLst>
            </a:custGeom>
            <a:solidFill>
              <a:srgbClr val="B29E8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71469" cy="2862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103111" y="-66276"/>
            <a:ext cx="1258020" cy="1655660"/>
            <a:chOff x="0" y="0"/>
            <a:chExt cx="331330" cy="4360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1330" cy="436059"/>
            </a:xfrm>
            <a:custGeom>
              <a:avLst/>
              <a:gdLst/>
              <a:ahLst/>
              <a:cxnLst/>
              <a:rect r="r" b="b" t="t" l="l"/>
              <a:pathLst>
                <a:path h="436059" w="331330">
                  <a:moveTo>
                    <a:pt x="0" y="0"/>
                  </a:moveTo>
                  <a:lnTo>
                    <a:pt x="331330" y="0"/>
                  </a:lnTo>
                  <a:lnTo>
                    <a:pt x="331330" y="436059"/>
                  </a:lnTo>
                  <a:lnTo>
                    <a:pt x="0" y="436059"/>
                  </a:lnTo>
                  <a:close/>
                </a:path>
              </a:pathLst>
            </a:custGeom>
            <a:solidFill>
              <a:srgbClr val="25343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31330" cy="4741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465563" y="1152525"/>
            <a:ext cx="13356873" cy="1784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63"/>
              </a:lnSpc>
              <a:spcBef>
                <a:spcPct val="0"/>
              </a:spcBef>
            </a:pPr>
            <a:r>
              <a:rPr lang="en-US" sz="6863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Final Enhancement Pipeline</a:t>
            </a:r>
          </a:p>
          <a:p>
            <a:pPr algn="l" marL="0" indent="0" lvl="0">
              <a:lnSpc>
                <a:spcPts val="6863"/>
              </a:lnSpc>
              <a:spcBef>
                <a:spcPct val="0"/>
              </a:spcBef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2365517"/>
            <a:ext cx="13169314" cy="7108422"/>
            <a:chOff x="0" y="0"/>
            <a:chExt cx="17559086" cy="9477896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7559086" cy="9477896"/>
              <a:chOff x="0" y="0"/>
              <a:chExt cx="2843540" cy="153486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843540" cy="1534862"/>
              </a:xfrm>
              <a:custGeom>
                <a:avLst/>
                <a:gdLst/>
                <a:ahLst/>
                <a:cxnLst/>
                <a:rect r="r" b="b" t="t" l="l"/>
                <a:pathLst>
                  <a:path h="1534862" w="2843540">
                    <a:moveTo>
                      <a:pt x="0" y="0"/>
                    </a:moveTo>
                    <a:lnTo>
                      <a:pt x="2843540" y="0"/>
                    </a:lnTo>
                    <a:lnTo>
                      <a:pt x="2843540" y="1534862"/>
                    </a:lnTo>
                    <a:lnTo>
                      <a:pt x="0" y="1534862"/>
                    </a:lnTo>
                    <a:close/>
                  </a:path>
                </a:pathLst>
              </a:custGeom>
              <a:solidFill>
                <a:srgbClr val="EA4225"/>
              </a:solidFill>
              <a:ln w="19050" cap="sq">
                <a:solidFill>
                  <a:srgbClr val="7C898B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2843540" cy="157296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79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861607" y="1741594"/>
              <a:ext cx="14226025" cy="790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388"/>
                </a:lnSpc>
              </a:pP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530557" y="1608244"/>
              <a:ext cx="14226025" cy="5382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12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384528" y="2602384"/>
            <a:ext cx="12721721" cy="6822023"/>
          </a:xfrm>
          <a:custGeom>
            <a:avLst/>
            <a:gdLst/>
            <a:ahLst/>
            <a:cxnLst/>
            <a:rect r="r" b="b" t="t" l="l"/>
            <a:pathLst>
              <a:path h="6822023" w="12721721">
                <a:moveTo>
                  <a:pt x="0" y="0"/>
                </a:moveTo>
                <a:lnTo>
                  <a:pt x="12721721" y="0"/>
                </a:lnTo>
                <a:lnTo>
                  <a:pt x="12721721" y="6822023"/>
                </a:lnTo>
                <a:lnTo>
                  <a:pt x="0" y="68220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1476" y="5156423"/>
            <a:ext cx="7592648" cy="280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799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spc="-39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r>
              <a:rPr lang="en-US" sz="1999" spc="-39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ignificant improvement in low-light image visibility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  <a:p>
            <a:pPr algn="just" marL="431799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spc="-39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Better preservation of structural details and edges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  <a:p>
            <a:pPr algn="just" marL="431799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spc="-39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Enhanced contrast and clarity of road features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  <a:p>
            <a:pPr algn="just" marL="431799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spc="-39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Balanced brightness enhancement without over-saturation</a:t>
            </a:r>
          </a:p>
          <a:p>
            <a:pPr algn="just" marL="0" indent="0" lvl="0">
              <a:lnSpc>
                <a:spcPts val="2799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5400742" y="1001666"/>
            <a:ext cx="7486517" cy="207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b="true" sz="8000" i="true" strike="noStrike" u="sng">
                <a:solidFill>
                  <a:srgbClr val="253439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Enhancement Results Statistics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1476" y="4444558"/>
            <a:ext cx="7592648" cy="407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</a:pPr>
            <a:r>
              <a:rPr lang="en-US" b="true" sz="2799">
                <a:solidFill>
                  <a:srgbClr val="253439"/>
                </a:solidFill>
                <a:latin typeface="Lato Bold"/>
                <a:ea typeface="Lato Bold"/>
                <a:cs typeface="Lato Bold"/>
                <a:sym typeface="Lato Bold"/>
              </a:rPr>
              <a:t>Qualitative and Quantitative Improvements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233876" y="5156423"/>
            <a:ext cx="7592648" cy="210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799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spc="-39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PSNR –</a:t>
            </a:r>
            <a:r>
              <a:rPr lang="en-US" sz="1999" spc="-39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 measures overall image quality improvement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  <a:p>
            <a:pPr algn="just" marL="431799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spc="-39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SSIM – measures similarity preservation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  <a:p>
            <a:pPr algn="just" marL="431799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spc="-39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AMBE – measures brightness consistency</a:t>
            </a:r>
          </a:p>
          <a:p>
            <a:pPr algn="just" marL="0" indent="0" lvl="0">
              <a:lnSpc>
                <a:spcPts val="279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233876" y="4444558"/>
            <a:ext cx="7592648" cy="407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</a:pPr>
            <a:r>
              <a:rPr lang="en-US" b="true" sz="2799">
                <a:solidFill>
                  <a:srgbClr val="253439"/>
                </a:solidFill>
                <a:latin typeface="Lato Bold"/>
                <a:ea typeface="Lato Bold"/>
                <a:cs typeface="Lato Bold"/>
                <a:sym typeface="Lato Bold"/>
              </a:rPr>
              <a:t>Evaluation Metrics Used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7103111" y="-218676"/>
            <a:ext cx="1410420" cy="10724351"/>
            <a:chOff x="0" y="0"/>
            <a:chExt cx="371469" cy="28245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71469" cy="2824520"/>
            </a:xfrm>
            <a:custGeom>
              <a:avLst/>
              <a:gdLst/>
              <a:ahLst/>
              <a:cxnLst/>
              <a:rect r="r" b="b" t="t" l="l"/>
              <a:pathLst>
                <a:path h="2824520" w="371469">
                  <a:moveTo>
                    <a:pt x="0" y="0"/>
                  </a:moveTo>
                  <a:lnTo>
                    <a:pt x="371469" y="0"/>
                  </a:lnTo>
                  <a:lnTo>
                    <a:pt x="371469" y="2824520"/>
                  </a:lnTo>
                  <a:lnTo>
                    <a:pt x="0" y="2824520"/>
                  </a:lnTo>
                  <a:close/>
                </a:path>
              </a:pathLst>
            </a:custGeom>
            <a:solidFill>
              <a:srgbClr val="B29E8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71469" cy="2862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103111" y="-66276"/>
            <a:ext cx="1258020" cy="1655660"/>
            <a:chOff x="0" y="0"/>
            <a:chExt cx="331330" cy="43605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31330" cy="436059"/>
            </a:xfrm>
            <a:custGeom>
              <a:avLst/>
              <a:gdLst/>
              <a:ahLst/>
              <a:cxnLst/>
              <a:rect r="r" b="b" t="t" l="l"/>
              <a:pathLst>
                <a:path h="436059" w="331330">
                  <a:moveTo>
                    <a:pt x="0" y="0"/>
                  </a:moveTo>
                  <a:lnTo>
                    <a:pt x="331330" y="0"/>
                  </a:lnTo>
                  <a:lnTo>
                    <a:pt x="331330" y="436059"/>
                  </a:lnTo>
                  <a:lnTo>
                    <a:pt x="0" y="436059"/>
                  </a:lnTo>
                  <a:close/>
                </a:path>
              </a:pathLst>
            </a:custGeom>
            <a:solidFill>
              <a:srgbClr val="25343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31330" cy="4741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152400" y="0"/>
            <a:ext cx="1410420" cy="10724351"/>
            <a:chOff x="0" y="0"/>
            <a:chExt cx="371469" cy="282452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71469" cy="2824520"/>
            </a:xfrm>
            <a:custGeom>
              <a:avLst/>
              <a:gdLst/>
              <a:ahLst/>
              <a:cxnLst/>
              <a:rect r="r" b="b" t="t" l="l"/>
              <a:pathLst>
                <a:path h="2824520" w="371469">
                  <a:moveTo>
                    <a:pt x="0" y="0"/>
                  </a:moveTo>
                  <a:lnTo>
                    <a:pt x="371469" y="0"/>
                  </a:lnTo>
                  <a:lnTo>
                    <a:pt x="371469" y="2824520"/>
                  </a:lnTo>
                  <a:lnTo>
                    <a:pt x="0" y="2824520"/>
                  </a:lnTo>
                  <a:close/>
                </a:path>
              </a:pathLst>
            </a:custGeom>
            <a:solidFill>
              <a:srgbClr val="B29E8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371469" cy="2862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0" y="0"/>
            <a:ext cx="1258020" cy="1655660"/>
            <a:chOff x="0" y="0"/>
            <a:chExt cx="331330" cy="43605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31330" cy="436059"/>
            </a:xfrm>
            <a:custGeom>
              <a:avLst/>
              <a:gdLst/>
              <a:ahLst/>
              <a:cxnLst/>
              <a:rect r="r" b="b" t="t" l="l"/>
              <a:pathLst>
                <a:path h="436059" w="331330">
                  <a:moveTo>
                    <a:pt x="0" y="0"/>
                  </a:moveTo>
                  <a:lnTo>
                    <a:pt x="331330" y="0"/>
                  </a:lnTo>
                  <a:lnTo>
                    <a:pt x="331330" y="436059"/>
                  </a:lnTo>
                  <a:lnTo>
                    <a:pt x="0" y="436059"/>
                  </a:lnTo>
                  <a:close/>
                </a:path>
              </a:pathLst>
            </a:custGeom>
            <a:solidFill>
              <a:srgbClr val="25343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31330" cy="4741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3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296400" y="1663537"/>
            <a:ext cx="8991600" cy="2528887"/>
          </a:xfrm>
          <a:custGeom>
            <a:avLst/>
            <a:gdLst/>
            <a:ahLst/>
            <a:cxnLst/>
            <a:rect r="r" b="b" t="t" l="l"/>
            <a:pathLst>
              <a:path h="2528887" w="8991600">
                <a:moveTo>
                  <a:pt x="0" y="0"/>
                </a:moveTo>
                <a:lnTo>
                  <a:pt x="8991600" y="0"/>
                </a:lnTo>
                <a:lnTo>
                  <a:pt x="8991600" y="2528888"/>
                </a:lnTo>
                <a:lnTo>
                  <a:pt x="0" y="25288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296400" y="7672388"/>
            <a:ext cx="8991600" cy="2528887"/>
          </a:xfrm>
          <a:custGeom>
            <a:avLst/>
            <a:gdLst/>
            <a:ahLst/>
            <a:cxnLst/>
            <a:rect r="r" b="b" t="t" l="l"/>
            <a:pathLst>
              <a:path h="2528887" w="8991600">
                <a:moveTo>
                  <a:pt x="0" y="0"/>
                </a:moveTo>
                <a:lnTo>
                  <a:pt x="8991600" y="0"/>
                </a:lnTo>
                <a:lnTo>
                  <a:pt x="8991600" y="2528887"/>
                </a:lnTo>
                <a:lnTo>
                  <a:pt x="0" y="25288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296400" y="4667962"/>
            <a:ext cx="8991600" cy="2528888"/>
          </a:xfrm>
          <a:custGeom>
            <a:avLst/>
            <a:gdLst/>
            <a:ahLst/>
            <a:cxnLst/>
            <a:rect r="r" b="b" t="t" l="l"/>
            <a:pathLst>
              <a:path h="2528888" w="8991600">
                <a:moveTo>
                  <a:pt x="0" y="0"/>
                </a:moveTo>
                <a:lnTo>
                  <a:pt x="8991600" y="0"/>
                </a:lnTo>
                <a:lnTo>
                  <a:pt x="8991600" y="2528888"/>
                </a:lnTo>
                <a:lnTo>
                  <a:pt x="0" y="25288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4667962"/>
            <a:ext cx="8991600" cy="2528888"/>
          </a:xfrm>
          <a:custGeom>
            <a:avLst/>
            <a:gdLst/>
            <a:ahLst/>
            <a:cxnLst/>
            <a:rect r="r" b="b" t="t" l="l"/>
            <a:pathLst>
              <a:path h="2528888" w="8991600">
                <a:moveTo>
                  <a:pt x="0" y="0"/>
                </a:moveTo>
                <a:lnTo>
                  <a:pt x="8991600" y="0"/>
                </a:lnTo>
                <a:lnTo>
                  <a:pt x="8991600" y="2528888"/>
                </a:lnTo>
                <a:lnTo>
                  <a:pt x="0" y="25288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7672388"/>
            <a:ext cx="8991600" cy="2528888"/>
          </a:xfrm>
          <a:custGeom>
            <a:avLst/>
            <a:gdLst/>
            <a:ahLst/>
            <a:cxnLst/>
            <a:rect r="r" b="b" t="t" l="l"/>
            <a:pathLst>
              <a:path h="2528888" w="8991600">
                <a:moveTo>
                  <a:pt x="0" y="0"/>
                </a:moveTo>
                <a:lnTo>
                  <a:pt x="8991600" y="0"/>
                </a:lnTo>
                <a:lnTo>
                  <a:pt x="8991600" y="2528887"/>
                </a:lnTo>
                <a:lnTo>
                  <a:pt x="0" y="25288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1663537"/>
            <a:ext cx="8991600" cy="2528888"/>
          </a:xfrm>
          <a:custGeom>
            <a:avLst/>
            <a:gdLst/>
            <a:ahLst/>
            <a:cxnLst/>
            <a:rect r="r" b="b" t="t" l="l"/>
            <a:pathLst>
              <a:path h="2528888" w="8991600">
                <a:moveTo>
                  <a:pt x="0" y="0"/>
                </a:moveTo>
                <a:lnTo>
                  <a:pt x="8991600" y="0"/>
                </a:lnTo>
                <a:lnTo>
                  <a:pt x="8991600" y="2528888"/>
                </a:lnTo>
                <a:lnTo>
                  <a:pt x="0" y="25288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493371" y="481801"/>
            <a:ext cx="11301259" cy="705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sz="4099" spc="-81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ENHANCEMENT RESULTS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615556" y="1323812"/>
            <a:ext cx="176048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spc="-3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[Before → After]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911956" y="1323812"/>
            <a:ext cx="176048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spc="-3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[Before → After]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3632" y="283006"/>
            <a:ext cx="16744690" cy="2324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999"/>
              </a:lnSpc>
            </a:pPr>
            <a:r>
              <a:rPr lang="en-US" sz="8999" i="true" u="sng">
                <a:solidFill>
                  <a:srgbClr val="253439"/>
                </a:solidFill>
                <a:latin typeface="Lato Italics"/>
                <a:ea typeface="Lato Italics"/>
                <a:cs typeface="Lato Italics"/>
                <a:sym typeface="Lato Italics"/>
              </a:rPr>
              <a:t>Transition to Real-Time Processing</a:t>
            </a:r>
          </a:p>
          <a:p>
            <a:pPr algn="just" marL="0" indent="0" lvl="0">
              <a:lnSpc>
                <a:spcPts val="8999"/>
              </a:lnSpc>
              <a:spcBef>
                <a:spcPct val="0"/>
              </a:spcBef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16877580" y="1481667"/>
            <a:ext cx="1410420" cy="10724351"/>
            <a:chOff x="0" y="0"/>
            <a:chExt cx="371469" cy="282452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1469" cy="2824520"/>
            </a:xfrm>
            <a:custGeom>
              <a:avLst/>
              <a:gdLst/>
              <a:ahLst/>
              <a:cxnLst/>
              <a:rect r="r" b="b" t="t" l="l"/>
              <a:pathLst>
                <a:path h="2824520" w="371469">
                  <a:moveTo>
                    <a:pt x="0" y="0"/>
                  </a:moveTo>
                  <a:lnTo>
                    <a:pt x="371469" y="0"/>
                  </a:lnTo>
                  <a:lnTo>
                    <a:pt x="371469" y="2824520"/>
                  </a:lnTo>
                  <a:lnTo>
                    <a:pt x="0" y="2824520"/>
                  </a:lnTo>
                  <a:close/>
                </a:path>
              </a:pathLst>
            </a:custGeom>
            <a:solidFill>
              <a:srgbClr val="B29E8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71469" cy="2862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10067" y="1481667"/>
            <a:ext cx="1410420" cy="10724351"/>
            <a:chOff x="0" y="0"/>
            <a:chExt cx="371469" cy="28245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1469" cy="2824520"/>
            </a:xfrm>
            <a:custGeom>
              <a:avLst/>
              <a:gdLst/>
              <a:ahLst/>
              <a:cxnLst/>
              <a:rect r="r" b="b" t="t" l="l"/>
              <a:pathLst>
                <a:path h="2824520" w="371469">
                  <a:moveTo>
                    <a:pt x="0" y="0"/>
                  </a:moveTo>
                  <a:lnTo>
                    <a:pt x="371469" y="0"/>
                  </a:lnTo>
                  <a:lnTo>
                    <a:pt x="371469" y="2824520"/>
                  </a:lnTo>
                  <a:lnTo>
                    <a:pt x="0" y="2824520"/>
                  </a:lnTo>
                  <a:close/>
                </a:path>
              </a:pathLst>
            </a:custGeom>
            <a:solidFill>
              <a:srgbClr val="B29E8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71469" cy="2862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523854" y="3547033"/>
            <a:ext cx="15240292" cy="5212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2" indent="-356231" lvl="1">
              <a:lnSpc>
                <a:spcPts val="4619"/>
              </a:lnSpc>
              <a:buFont typeface="Arial"/>
              <a:buChar char="•"/>
            </a:pPr>
            <a:r>
              <a:rPr lang="en-US" sz="3299" spc="-65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Initial work focused on developing a h</a:t>
            </a:r>
            <a:r>
              <a:rPr lang="en-US" sz="3299" spc="-65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igh-quality enhancement pipeline</a:t>
            </a:r>
          </a:p>
          <a:p>
            <a:pPr algn="l">
              <a:lnSpc>
                <a:spcPts val="4619"/>
              </a:lnSpc>
            </a:pPr>
          </a:p>
          <a:p>
            <a:pPr algn="l" marL="712462" indent="-356231" lvl="1">
              <a:lnSpc>
                <a:spcPts val="4619"/>
              </a:lnSpc>
              <a:buFont typeface="Arial"/>
              <a:buChar char="•"/>
            </a:pPr>
            <a:r>
              <a:rPr lang="en-US" sz="3299" spc="-65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Designed primarily for offline image processing</a:t>
            </a:r>
          </a:p>
          <a:p>
            <a:pPr algn="l">
              <a:lnSpc>
                <a:spcPts val="4619"/>
              </a:lnSpc>
            </a:pPr>
          </a:p>
          <a:p>
            <a:pPr algn="l" marL="712462" indent="-356231" lvl="1">
              <a:lnSpc>
                <a:spcPts val="4619"/>
              </a:lnSpc>
              <a:buFont typeface="Arial"/>
              <a:buChar char="•"/>
            </a:pPr>
            <a:r>
              <a:rPr lang="en-US" sz="3299" spc="-65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D</a:t>
            </a:r>
            <a:r>
              <a:rPr lang="en-US" sz="3299" spc="-65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uring extension to lane detection and live video, computational limitations were observed</a:t>
            </a:r>
          </a:p>
          <a:p>
            <a:pPr algn="l">
              <a:lnSpc>
                <a:spcPts val="4619"/>
              </a:lnSpc>
            </a:pPr>
          </a:p>
          <a:p>
            <a:pPr algn="l" marL="712462" indent="-356231" lvl="1">
              <a:lnSpc>
                <a:spcPts val="4619"/>
              </a:lnSpc>
              <a:buFont typeface="Arial"/>
              <a:buChar char="•"/>
            </a:pPr>
            <a:r>
              <a:rPr lang="en-US" sz="3299" spc="-65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Required redesign of the pipeline for real-time performance</a:t>
            </a:r>
          </a:p>
          <a:p>
            <a:pPr algn="l">
              <a:lnSpc>
                <a:spcPts val="461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239502" y="2549947"/>
            <a:ext cx="5568107" cy="50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spc="-59" u="sng">
                <a:solidFill>
                  <a:srgbClr val="253439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From Offline Enhancement → Real-Time System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42139" y="959908"/>
            <a:ext cx="14203723" cy="1035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784"/>
              </a:lnSpc>
              <a:spcBef>
                <a:spcPct val="0"/>
              </a:spcBef>
            </a:pPr>
            <a:r>
              <a:rPr lang="en-US" b="true" sz="7784" i="true" strike="noStrike" u="sng">
                <a:solidFill>
                  <a:srgbClr val="253439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Real-Time Enhancement Pipeline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29129" y="3434867"/>
            <a:ext cx="3613480" cy="1281257"/>
            <a:chOff x="0" y="0"/>
            <a:chExt cx="951699" cy="3374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51699" cy="337450"/>
            </a:xfrm>
            <a:custGeom>
              <a:avLst/>
              <a:gdLst/>
              <a:ahLst/>
              <a:cxnLst/>
              <a:rect r="r" b="b" t="t" l="l"/>
              <a:pathLst>
                <a:path h="337450" w="951699">
                  <a:moveTo>
                    <a:pt x="0" y="0"/>
                  </a:moveTo>
                  <a:lnTo>
                    <a:pt x="951699" y="0"/>
                  </a:lnTo>
                  <a:lnTo>
                    <a:pt x="951699" y="337450"/>
                  </a:lnTo>
                  <a:lnTo>
                    <a:pt x="0" y="33745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C898B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951699" cy="37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en-US" sz="1999" spc="-39">
                  <a:solidFill>
                    <a:srgbClr val="253439"/>
                  </a:solidFill>
                  <a:latin typeface="Lato"/>
                  <a:ea typeface="Lato"/>
                  <a:cs typeface="Lato"/>
                  <a:sym typeface="Lato"/>
                </a:rPr>
                <a:t>Input</a:t>
              </a:r>
            </a:p>
          </p:txBody>
        </p:sp>
      </p:grpSp>
      <p:sp>
        <p:nvSpPr>
          <p:cNvPr name="AutoShape 6" id="6"/>
          <p:cNvSpPr/>
          <p:nvPr/>
        </p:nvSpPr>
        <p:spPr>
          <a:xfrm flipH="true">
            <a:off x="3035869" y="4716125"/>
            <a:ext cx="0" cy="1366722"/>
          </a:xfrm>
          <a:prstGeom prst="line">
            <a:avLst/>
          </a:prstGeom>
          <a:ln cap="flat" w="19050">
            <a:solidFill>
              <a:srgbClr val="7C898B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7" id="7"/>
          <p:cNvGrpSpPr/>
          <p:nvPr/>
        </p:nvGrpSpPr>
        <p:grpSpPr>
          <a:xfrm rot="0">
            <a:off x="1272657" y="6082846"/>
            <a:ext cx="3526424" cy="1281257"/>
            <a:chOff x="0" y="0"/>
            <a:chExt cx="928770" cy="3374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28770" cy="337450"/>
            </a:xfrm>
            <a:custGeom>
              <a:avLst/>
              <a:gdLst/>
              <a:ahLst/>
              <a:cxnLst/>
              <a:rect r="r" b="b" t="t" l="l"/>
              <a:pathLst>
                <a:path h="337450" w="928770">
                  <a:moveTo>
                    <a:pt x="0" y="0"/>
                  </a:moveTo>
                  <a:lnTo>
                    <a:pt x="928770" y="0"/>
                  </a:lnTo>
                  <a:lnTo>
                    <a:pt x="928770" y="337450"/>
                  </a:lnTo>
                  <a:lnTo>
                    <a:pt x="0" y="33745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C898B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28770" cy="37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  <a:r>
                <a:rPr lang="en-US" sz="1999" spc="-39">
                  <a:solidFill>
                    <a:srgbClr val="253439"/>
                  </a:solidFill>
                  <a:latin typeface="Lato"/>
                  <a:ea typeface="Lato"/>
                  <a:cs typeface="Lato"/>
                  <a:sym typeface="Lato"/>
                </a:rPr>
                <a:t>HSV Conversion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14823" y="3425342"/>
            <a:ext cx="3526424" cy="1281257"/>
            <a:chOff x="0" y="0"/>
            <a:chExt cx="928770" cy="3374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28770" cy="337450"/>
            </a:xfrm>
            <a:custGeom>
              <a:avLst/>
              <a:gdLst/>
              <a:ahLst/>
              <a:cxnLst/>
              <a:rect r="r" b="b" t="t" l="l"/>
              <a:pathLst>
                <a:path h="337450" w="928770">
                  <a:moveTo>
                    <a:pt x="0" y="0"/>
                  </a:moveTo>
                  <a:lnTo>
                    <a:pt x="928770" y="0"/>
                  </a:lnTo>
                  <a:lnTo>
                    <a:pt x="928770" y="337450"/>
                  </a:lnTo>
                  <a:lnTo>
                    <a:pt x="0" y="33745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C898B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28770" cy="37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  <a:r>
                <a:rPr lang="en-US" sz="1999" spc="-39">
                  <a:solidFill>
                    <a:srgbClr val="253439"/>
                  </a:solidFill>
                  <a:latin typeface="Lato"/>
                  <a:ea typeface="Lato"/>
                  <a:cs typeface="Lato"/>
                  <a:sym typeface="Lato"/>
                </a:rPr>
                <a:t>Smoothing (Bilateral Filter)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321460" y="8082711"/>
            <a:ext cx="3526424" cy="1281257"/>
            <a:chOff x="0" y="0"/>
            <a:chExt cx="928770" cy="3374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28770" cy="337450"/>
            </a:xfrm>
            <a:custGeom>
              <a:avLst/>
              <a:gdLst/>
              <a:ahLst/>
              <a:cxnLst/>
              <a:rect r="r" b="b" t="t" l="l"/>
              <a:pathLst>
                <a:path h="337450" w="928770">
                  <a:moveTo>
                    <a:pt x="0" y="0"/>
                  </a:moveTo>
                  <a:lnTo>
                    <a:pt x="928770" y="0"/>
                  </a:lnTo>
                  <a:lnTo>
                    <a:pt x="928770" y="337450"/>
                  </a:lnTo>
                  <a:lnTo>
                    <a:pt x="0" y="33745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C898B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928770" cy="37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  <a:r>
                <a:rPr lang="en-US" sz="1999" spc="-39">
                  <a:solidFill>
                    <a:srgbClr val="253439"/>
                  </a:solidFill>
                  <a:latin typeface="Lato"/>
                  <a:ea typeface="Lato"/>
                  <a:cs typeface="Lato"/>
                  <a:sym typeface="Lato"/>
                </a:rPr>
                <a:t>Adaptive Enhancement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967623" y="8092236"/>
            <a:ext cx="3526424" cy="1281257"/>
            <a:chOff x="0" y="0"/>
            <a:chExt cx="928770" cy="3374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28770" cy="337450"/>
            </a:xfrm>
            <a:custGeom>
              <a:avLst/>
              <a:gdLst/>
              <a:ahLst/>
              <a:cxnLst/>
              <a:rect r="r" b="b" t="t" l="l"/>
              <a:pathLst>
                <a:path h="337450" w="928770">
                  <a:moveTo>
                    <a:pt x="0" y="0"/>
                  </a:moveTo>
                  <a:lnTo>
                    <a:pt x="928770" y="0"/>
                  </a:lnTo>
                  <a:lnTo>
                    <a:pt x="928770" y="337450"/>
                  </a:lnTo>
                  <a:lnTo>
                    <a:pt x="0" y="33745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C898B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928770" cy="37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  <a:r>
                <a:rPr lang="en-US" sz="1999" spc="-39">
                  <a:solidFill>
                    <a:srgbClr val="253439"/>
                  </a:solidFill>
                  <a:latin typeface="Lato"/>
                  <a:ea typeface="Lato"/>
                  <a:cs typeface="Lato"/>
                  <a:sym typeface="Lato"/>
                </a:rPr>
                <a:t>Gaussian Illumination Estimation</a:t>
              </a:r>
              <a:r>
                <a:rPr lang="en-US" sz="1999" spc="-39">
                  <a:solidFill>
                    <a:srgbClr val="253439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513460" y="3434867"/>
            <a:ext cx="4745840" cy="1281257"/>
            <a:chOff x="0" y="0"/>
            <a:chExt cx="1249933" cy="3374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49933" cy="337450"/>
            </a:xfrm>
            <a:custGeom>
              <a:avLst/>
              <a:gdLst/>
              <a:ahLst/>
              <a:cxnLst/>
              <a:rect r="r" b="b" t="t" l="l"/>
              <a:pathLst>
                <a:path h="337450" w="1249933">
                  <a:moveTo>
                    <a:pt x="0" y="0"/>
                  </a:moveTo>
                  <a:lnTo>
                    <a:pt x="1249933" y="0"/>
                  </a:lnTo>
                  <a:lnTo>
                    <a:pt x="1249933" y="337450"/>
                  </a:lnTo>
                  <a:lnTo>
                    <a:pt x="0" y="33745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C898B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249933" cy="37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en-US" sz="1999" spc="-39">
                  <a:solidFill>
                    <a:srgbClr val="253439"/>
                  </a:solidFill>
                  <a:latin typeface="Lato"/>
                  <a:ea typeface="Lato"/>
                  <a:cs typeface="Lato"/>
                  <a:sym typeface="Lato"/>
                </a:rPr>
                <a:t>Sharpening</a:t>
              </a:r>
              <a:r>
                <a:rPr lang="en-US" sz="1999" spc="-39">
                  <a:solidFill>
                    <a:srgbClr val="253439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513460" y="6084886"/>
            <a:ext cx="4745840" cy="1281257"/>
            <a:chOff x="0" y="0"/>
            <a:chExt cx="1249933" cy="3374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49933" cy="337450"/>
            </a:xfrm>
            <a:custGeom>
              <a:avLst/>
              <a:gdLst/>
              <a:ahLst/>
              <a:cxnLst/>
              <a:rect r="r" b="b" t="t" l="l"/>
              <a:pathLst>
                <a:path h="337450" w="1249933">
                  <a:moveTo>
                    <a:pt x="0" y="0"/>
                  </a:moveTo>
                  <a:lnTo>
                    <a:pt x="1249933" y="0"/>
                  </a:lnTo>
                  <a:lnTo>
                    <a:pt x="1249933" y="337450"/>
                  </a:lnTo>
                  <a:lnTo>
                    <a:pt x="0" y="33745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C898B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249933" cy="37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en-US" sz="1999" spc="-39">
                  <a:solidFill>
                    <a:srgbClr val="253439"/>
                  </a:solidFill>
                  <a:latin typeface="Lato"/>
                  <a:ea typeface="Lato"/>
                  <a:cs typeface="Lato"/>
                  <a:sym typeface="Lato"/>
                </a:rPr>
                <a:t>Enhanced Frame Output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>
            <a:off x="3026344" y="7366143"/>
            <a:ext cx="0" cy="1366722"/>
          </a:xfrm>
          <a:prstGeom prst="line">
            <a:avLst/>
          </a:prstGeom>
          <a:ln cap="flat" w="19050">
            <a:solidFill>
              <a:srgbClr val="7C898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3035869" y="8732865"/>
            <a:ext cx="1931754" cy="0"/>
          </a:xfrm>
          <a:prstGeom prst="line">
            <a:avLst/>
          </a:prstGeom>
          <a:ln cap="flat" w="19050">
            <a:solidFill>
              <a:srgbClr val="7C898B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7" id="27"/>
          <p:cNvSpPr/>
          <p:nvPr/>
        </p:nvSpPr>
        <p:spPr>
          <a:xfrm>
            <a:off x="8513097" y="8723340"/>
            <a:ext cx="1789313" cy="0"/>
          </a:xfrm>
          <a:prstGeom prst="line">
            <a:avLst/>
          </a:prstGeom>
          <a:ln cap="flat" w="19050">
            <a:solidFill>
              <a:srgbClr val="7C898B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8" id="28"/>
          <p:cNvSpPr/>
          <p:nvPr/>
        </p:nvSpPr>
        <p:spPr>
          <a:xfrm flipV="true">
            <a:off x="13847884" y="8713815"/>
            <a:ext cx="1038496" cy="0"/>
          </a:xfrm>
          <a:prstGeom prst="line">
            <a:avLst/>
          </a:prstGeom>
          <a:ln cap="flat" w="19050">
            <a:solidFill>
              <a:srgbClr val="7C898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14886380" y="7366143"/>
            <a:ext cx="0" cy="1347672"/>
          </a:xfrm>
          <a:prstGeom prst="line">
            <a:avLst/>
          </a:prstGeom>
          <a:ln cap="flat" w="19050">
            <a:solidFill>
              <a:srgbClr val="7C898B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14895905" y="4716125"/>
            <a:ext cx="0" cy="1366722"/>
          </a:xfrm>
          <a:prstGeom prst="line">
            <a:avLst/>
          </a:prstGeom>
          <a:ln cap="flat" w="19050">
            <a:solidFill>
              <a:srgbClr val="7C898B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10520778" y="4065971"/>
            <a:ext cx="2005571" cy="0"/>
          </a:xfrm>
          <a:prstGeom prst="line">
            <a:avLst/>
          </a:prstGeom>
          <a:ln cap="flat" w="19050">
            <a:solidFill>
              <a:srgbClr val="7C898B"/>
            </a:solidFill>
            <a:prstDash val="solid"/>
            <a:headEnd type="arrow" len="sm" w="med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6914823" y="5754027"/>
            <a:ext cx="3526424" cy="1281257"/>
            <a:chOff x="0" y="0"/>
            <a:chExt cx="928770" cy="3374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28770" cy="337450"/>
            </a:xfrm>
            <a:custGeom>
              <a:avLst/>
              <a:gdLst/>
              <a:ahLst/>
              <a:cxnLst/>
              <a:rect r="r" b="b" t="t" l="l"/>
              <a:pathLst>
                <a:path h="337450" w="928770">
                  <a:moveTo>
                    <a:pt x="0" y="0"/>
                  </a:moveTo>
                  <a:lnTo>
                    <a:pt x="928770" y="0"/>
                  </a:lnTo>
                  <a:lnTo>
                    <a:pt x="928770" y="337450"/>
                  </a:lnTo>
                  <a:lnTo>
                    <a:pt x="0" y="33745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C898B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928770" cy="37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  <a:r>
                <a:rPr lang="en-US" sz="1999" spc="-39">
                  <a:solidFill>
                    <a:srgbClr val="253439"/>
                  </a:solidFill>
                  <a:latin typeface="Lato"/>
                  <a:ea typeface="Lato"/>
                  <a:cs typeface="Lato"/>
                  <a:sym typeface="Lato"/>
                </a:rPr>
                <a:t>Enhanced Frame</a:t>
              </a:r>
            </a:p>
          </p:txBody>
        </p:sp>
      </p:grpSp>
      <p:sp>
        <p:nvSpPr>
          <p:cNvPr name="AutoShape 35" id="35"/>
          <p:cNvSpPr/>
          <p:nvPr/>
        </p:nvSpPr>
        <p:spPr>
          <a:xfrm flipV="true">
            <a:off x="8678034" y="4706600"/>
            <a:ext cx="0" cy="1047427"/>
          </a:xfrm>
          <a:prstGeom prst="line">
            <a:avLst/>
          </a:prstGeom>
          <a:ln cap="flat" w="19050">
            <a:solidFill>
              <a:srgbClr val="7C898B"/>
            </a:solidFill>
            <a:prstDash val="solid"/>
            <a:headEnd type="arrow" len="sm" w="med"/>
            <a:tailEnd type="none" len="sm" w="sm"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2125426"/>
            <a:ext cx="11301259" cy="2175492"/>
          </a:xfrm>
          <a:custGeom>
            <a:avLst/>
            <a:gdLst/>
            <a:ahLst/>
            <a:cxnLst/>
            <a:rect r="r" b="b" t="t" l="l"/>
            <a:pathLst>
              <a:path h="2175492" w="11301259">
                <a:moveTo>
                  <a:pt x="0" y="0"/>
                </a:moveTo>
                <a:lnTo>
                  <a:pt x="11301258" y="0"/>
                </a:lnTo>
                <a:lnTo>
                  <a:pt x="11301258" y="2175493"/>
                </a:lnTo>
                <a:lnTo>
                  <a:pt x="0" y="21754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93371" y="5034344"/>
            <a:ext cx="11301259" cy="2019871"/>
          </a:xfrm>
          <a:custGeom>
            <a:avLst/>
            <a:gdLst/>
            <a:ahLst/>
            <a:cxnLst/>
            <a:rect r="r" b="b" t="t" l="l"/>
            <a:pathLst>
              <a:path h="2019871" w="11301259">
                <a:moveTo>
                  <a:pt x="0" y="0"/>
                </a:moveTo>
                <a:lnTo>
                  <a:pt x="11301258" y="0"/>
                </a:lnTo>
                <a:lnTo>
                  <a:pt x="11301258" y="2019870"/>
                </a:lnTo>
                <a:lnTo>
                  <a:pt x="0" y="20198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5400000">
            <a:off x="8775693" y="4365914"/>
            <a:ext cx="736613" cy="606623"/>
            <a:chOff x="0" y="0"/>
            <a:chExt cx="647700" cy="533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20650" y="127000"/>
              <a:ext cx="52705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5400000">
            <a:off x="4747485" y="7119210"/>
            <a:ext cx="736613" cy="606623"/>
            <a:chOff x="0" y="0"/>
            <a:chExt cx="647700" cy="533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20650" y="127000"/>
              <a:ext cx="52705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3061786" y="7787639"/>
            <a:ext cx="4108012" cy="1659394"/>
          </a:xfrm>
          <a:custGeom>
            <a:avLst/>
            <a:gdLst/>
            <a:ahLst/>
            <a:cxnLst/>
            <a:rect r="r" b="b" t="t" l="l"/>
            <a:pathLst>
              <a:path h="1659394" w="4108012">
                <a:moveTo>
                  <a:pt x="0" y="0"/>
                </a:moveTo>
                <a:lnTo>
                  <a:pt x="4108012" y="0"/>
                </a:lnTo>
                <a:lnTo>
                  <a:pt x="4108012" y="1659394"/>
                </a:lnTo>
                <a:lnTo>
                  <a:pt x="0" y="16593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-10800000">
            <a:off x="7169798" y="8314025"/>
            <a:ext cx="4293279" cy="606623"/>
            <a:chOff x="0" y="0"/>
            <a:chExt cx="3775058" cy="533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775058" cy="533400"/>
            </a:xfrm>
            <a:custGeom>
              <a:avLst/>
              <a:gdLst/>
              <a:ahLst/>
              <a:cxnLst/>
              <a:rect r="r" b="b" t="t" l="l"/>
              <a:pathLst>
                <a:path h="533400" w="3775058">
                  <a:moveTo>
                    <a:pt x="239386" y="166418"/>
                  </a:moveTo>
                  <a:lnTo>
                    <a:pt x="3775058" y="166418"/>
                  </a:lnTo>
                  <a:lnTo>
                    <a:pt x="3775058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20650" y="127000"/>
              <a:ext cx="3654408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1463077" y="7790827"/>
            <a:ext cx="4355909" cy="1659394"/>
          </a:xfrm>
          <a:custGeom>
            <a:avLst/>
            <a:gdLst/>
            <a:ahLst/>
            <a:cxnLst/>
            <a:rect r="r" b="b" t="t" l="l"/>
            <a:pathLst>
              <a:path h="1659394" w="4355909">
                <a:moveTo>
                  <a:pt x="0" y="0"/>
                </a:moveTo>
                <a:lnTo>
                  <a:pt x="4355909" y="0"/>
                </a:lnTo>
                <a:lnTo>
                  <a:pt x="4355909" y="1659394"/>
                </a:lnTo>
                <a:lnTo>
                  <a:pt x="0" y="16593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812481" y="483362"/>
            <a:ext cx="8663039" cy="91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6830"/>
              </a:lnSpc>
              <a:spcBef>
                <a:spcPct val="0"/>
              </a:spcBef>
            </a:pPr>
            <a:r>
              <a:rPr lang="en-US" b="true" sz="6830" i="true" u="sng">
                <a:solidFill>
                  <a:srgbClr val="253439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L</a:t>
            </a:r>
            <a:r>
              <a:rPr lang="en-US" b="true" sz="6830" i="true" strike="noStrike" u="sng">
                <a:solidFill>
                  <a:srgbClr val="253439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a</a:t>
            </a:r>
            <a:r>
              <a:rPr lang="en-US" b="true" sz="6830" i="true" strike="noStrike" u="sng">
                <a:solidFill>
                  <a:srgbClr val="253439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n</a:t>
            </a:r>
            <a:r>
              <a:rPr lang="en-US" b="true" sz="6830" i="true" strike="noStrike" u="sng">
                <a:solidFill>
                  <a:srgbClr val="253439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e </a:t>
            </a:r>
            <a:r>
              <a:rPr lang="en-US" b="true" sz="6830" i="true" strike="noStrike" u="sng">
                <a:solidFill>
                  <a:srgbClr val="253439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D</a:t>
            </a:r>
            <a:r>
              <a:rPr lang="en-US" b="true" sz="6830" i="true" strike="noStrike" u="sng">
                <a:solidFill>
                  <a:srgbClr val="253439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e</a:t>
            </a:r>
            <a:r>
              <a:rPr lang="en-US" b="true" sz="6830" i="true" strike="noStrike" u="sng">
                <a:solidFill>
                  <a:srgbClr val="253439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t</a:t>
            </a:r>
            <a:r>
              <a:rPr lang="en-US" b="true" sz="6830" i="true" strike="noStrike" u="sng">
                <a:solidFill>
                  <a:srgbClr val="253439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e</a:t>
            </a:r>
            <a:r>
              <a:rPr lang="en-US" b="true" sz="6830" i="true" strike="noStrike" u="sng">
                <a:solidFill>
                  <a:srgbClr val="253439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c</a:t>
            </a:r>
            <a:r>
              <a:rPr lang="en-US" b="true" sz="6830" i="true" strike="noStrike" u="sng">
                <a:solidFill>
                  <a:srgbClr val="253439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t</a:t>
            </a:r>
            <a:r>
              <a:rPr lang="en-US" b="true" sz="6830" i="true" strike="noStrike" u="sng">
                <a:solidFill>
                  <a:srgbClr val="253439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ion</a:t>
            </a:r>
            <a:r>
              <a:rPr lang="en-US" b="true" sz="6830" i="true" strike="noStrike" u="sng">
                <a:solidFill>
                  <a:srgbClr val="253439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 Pipeline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736843"/>
            <a:ext cx="4222915" cy="2375390"/>
          </a:xfrm>
          <a:custGeom>
            <a:avLst/>
            <a:gdLst/>
            <a:ahLst/>
            <a:cxnLst/>
            <a:rect r="r" b="b" t="t" l="l"/>
            <a:pathLst>
              <a:path h="2375390" w="4222915">
                <a:moveTo>
                  <a:pt x="0" y="0"/>
                </a:moveTo>
                <a:lnTo>
                  <a:pt x="4222915" y="0"/>
                </a:lnTo>
                <a:lnTo>
                  <a:pt x="4222915" y="2375390"/>
                </a:lnTo>
                <a:lnTo>
                  <a:pt x="0" y="23753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641566" y="1736843"/>
            <a:ext cx="4222915" cy="2375390"/>
          </a:xfrm>
          <a:custGeom>
            <a:avLst/>
            <a:gdLst/>
            <a:ahLst/>
            <a:cxnLst/>
            <a:rect r="r" b="b" t="t" l="l"/>
            <a:pathLst>
              <a:path h="2375390" w="4222915">
                <a:moveTo>
                  <a:pt x="0" y="0"/>
                </a:moveTo>
                <a:lnTo>
                  <a:pt x="4222915" y="0"/>
                </a:lnTo>
                <a:lnTo>
                  <a:pt x="4222915" y="2375390"/>
                </a:lnTo>
                <a:lnTo>
                  <a:pt x="0" y="23753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283581" y="1736843"/>
            <a:ext cx="4222915" cy="2375390"/>
          </a:xfrm>
          <a:custGeom>
            <a:avLst/>
            <a:gdLst/>
            <a:ahLst/>
            <a:cxnLst/>
            <a:rect r="r" b="b" t="t" l="l"/>
            <a:pathLst>
              <a:path h="2375390" w="4222915">
                <a:moveTo>
                  <a:pt x="0" y="0"/>
                </a:moveTo>
                <a:lnTo>
                  <a:pt x="4222915" y="0"/>
                </a:lnTo>
                <a:lnTo>
                  <a:pt x="4222915" y="2375390"/>
                </a:lnTo>
                <a:lnTo>
                  <a:pt x="0" y="23753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925596" y="1736843"/>
            <a:ext cx="4222915" cy="2375390"/>
          </a:xfrm>
          <a:custGeom>
            <a:avLst/>
            <a:gdLst/>
            <a:ahLst/>
            <a:cxnLst/>
            <a:rect r="r" b="b" t="t" l="l"/>
            <a:pathLst>
              <a:path h="2375390" w="4222915">
                <a:moveTo>
                  <a:pt x="0" y="0"/>
                </a:moveTo>
                <a:lnTo>
                  <a:pt x="4222915" y="0"/>
                </a:lnTo>
                <a:lnTo>
                  <a:pt x="4222915" y="2375390"/>
                </a:lnTo>
                <a:lnTo>
                  <a:pt x="0" y="23753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25596" y="7518890"/>
            <a:ext cx="4222915" cy="2375390"/>
          </a:xfrm>
          <a:custGeom>
            <a:avLst/>
            <a:gdLst/>
            <a:ahLst/>
            <a:cxnLst/>
            <a:rect r="r" b="b" t="t" l="l"/>
            <a:pathLst>
              <a:path h="2375390" w="4222915">
                <a:moveTo>
                  <a:pt x="0" y="0"/>
                </a:moveTo>
                <a:lnTo>
                  <a:pt x="4222915" y="0"/>
                </a:lnTo>
                <a:lnTo>
                  <a:pt x="4222915" y="2375389"/>
                </a:lnTo>
                <a:lnTo>
                  <a:pt x="0" y="23753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283581" y="7518890"/>
            <a:ext cx="4222915" cy="2375390"/>
          </a:xfrm>
          <a:custGeom>
            <a:avLst/>
            <a:gdLst/>
            <a:ahLst/>
            <a:cxnLst/>
            <a:rect r="r" b="b" t="t" l="l"/>
            <a:pathLst>
              <a:path h="2375390" w="4222915">
                <a:moveTo>
                  <a:pt x="0" y="0"/>
                </a:moveTo>
                <a:lnTo>
                  <a:pt x="4222915" y="0"/>
                </a:lnTo>
                <a:lnTo>
                  <a:pt x="4222915" y="2375389"/>
                </a:lnTo>
                <a:lnTo>
                  <a:pt x="0" y="237538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449" y="7518890"/>
            <a:ext cx="4222915" cy="2375390"/>
          </a:xfrm>
          <a:custGeom>
            <a:avLst/>
            <a:gdLst/>
            <a:ahLst/>
            <a:cxnLst/>
            <a:rect r="r" b="b" t="t" l="l"/>
            <a:pathLst>
              <a:path h="2375390" w="4222915">
                <a:moveTo>
                  <a:pt x="0" y="0"/>
                </a:moveTo>
                <a:lnTo>
                  <a:pt x="4222915" y="0"/>
                </a:lnTo>
                <a:lnTo>
                  <a:pt x="4222915" y="2375389"/>
                </a:lnTo>
                <a:lnTo>
                  <a:pt x="0" y="237538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641566" y="7518890"/>
            <a:ext cx="4222915" cy="2375390"/>
          </a:xfrm>
          <a:custGeom>
            <a:avLst/>
            <a:gdLst/>
            <a:ahLst/>
            <a:cxnLst/>
            <a:rect r="r" b="b" t="t" l="l"/>
            <a:pathLst>
              <a:path h="2375390" w="4222915">
                <a:moveTo>
                  <a:pt x="0" y="0"/>
                </a:moveTo>
                <a:lnTo>
                  <a:pt x="4222915" y="0"/>
                </a:lnTo>
                <a:lnTo>
                  <a:pt x="4222915" y="2375389"/>
                </a:lnTo>
                <a:lnTo>
                  <a:pt x="0" y="237538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4222915" y="2924538"/>
            <a:ext cx="418651" cy="0"/>
          </a:xfrm>
          <a:prstGeom prst="line">
            <a:avLst/>
          </a:prstGeom>
          <a:ln cap="flat" w="38100">
            <a:solidFill>
              <a:srgbClr val="CB6CE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1" id="11"/>
          <p:cNvSpPr/>
          <p:nvPr/>
        </p:nvSpPr>
        <p:spPr>
          <a:xfrm>
            <a:off x="8864481" y="2924538"/>
            <a:ext cx="419100" cy="0"/>
          </a:xfrm>
          <a:prstGeom prst="line">
            <a:avLst/>
          </a:prstGeom>
          <a:ln cap="flat" w="38100">
            <a:solidFill>
              <a:srgbClr val="CB6CE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2" id="12"/>
          <p:cNvSpPr/>
          <p:nvPr/>
        </p:nvSpPr>
        <p:spPr>
          <a:xfrm>
            <a:off x="13506496" y="2924538"/>
            <a:ext cx="419100" cy="0"/>
          </a:xfrm>
          <a:prstGeom prst="line">
            <a:avLst/>
          </a:prstGeom>
          <a:ln cap="flat" w="38100">
            <a:solidFill>
              <a:srgbClr val="CB6CE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3" id="13"/>
          <p:cNvSpPr/>
          <p:nvPr/>
        </p:nvSpPr>
        <p:spPr>
          <a:xfrm flipH="true">
            <a:off x="4222466" y="8706584"/>
            <a:ext cx="419100" cy="0"/>
          </a:xfrm>
          <a:prstGeom prst="line">
            <a:avLst/>
          </a:prstGeom>
          <a:ln cap="flat" w="38100">
            <a:solidFill>
              <a:srgbClr val="CB6CE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4" id="14"/>
          <p:cNvSpPr/>
          <p:nvPr/>
        </p:nvSpPr>
        <p:spPr>
          <a:xfrm flipH="true">
            <a:off x="13506496" y="8706584"/>
            <a:ext cx="419100" cy="0"/>
          </a:xfrm>
          <a:prstGeom prst="line">
            <a:avLst/>
          </a:prstGeom>
          <a:ln cap="flat" w="38100">
            <a:solidFill>
              <a:srgbClr val="CB6CE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5" id="15"/>
          <p:cNvSpPr/>
          <p:nvPr/>
        </p:nvSpPr>
        <p:spPr>
          <a:xfrm>
            <a:off x="17786832" y="3886455"/>
            <a:ext cx="0" cy="3827599"/>
          </a:xfrm>
          <a:prstGeom prst="line">
            <a:avLst/>
          </a:prstGeom>
          <a:ln cap="flat" w="38100">
            <a:solidFill>
              <a:srgbClr val="CB6CE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6" id="16"/>
          <p:cNvSpPr/>
          <p:nvPr/>
        </p:nvSpPr>
        <p:spPr>
          <a:xfrm flipH="true">
            <a:off x="8864481" y="8706584"/>
            <a:ext cx="419100" cy="0"/>
          </a:xfrm>
          <a:prstGeom prst="line">
            <a:avLst/>
          </a:prstGeom>
          <a:ln cap="flat" w="38100">
            <a:solidFill>
              <a:srgbClr val="CB6CE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-449" y="1736843"/>
            <a:ext cx="4222915" cy="2375390"/>
          </a:xfrm>
          <a:custGeom>
            <a:avLst/>
            <a:gdLst/>
            <a:ahLst/>
            <a:cxnLst/>
            <a:rect r="r" b="b" t="t" l="l"/>
            <a:pathLst>
              <a:path h="2375390" w="4222915">
                <a:moveTo>
                  <a:pt x="0" y="0"/>
                </a:moveTo>
                <a:lnTo>
                  <a:pt x="4222915" y="0"/>
                </a:lnTo>
                <a:lnTo>
                  <a:pt x="4222915" y="2375390"/>
                </a:lnTo>
                <a:lnTo>
                  <a:pt x="0" y="237539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500006" y="348022"/>
            <a:ext cx="12728951" cy="1035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784"/>
              </a:lnSpc>
              <a:spcBef>
                <a:spcPct val="0"/>
              </a:spcBef>
            </a:pPr>
            <a:r>
              <a:rPr lang="en-US" b="true" sz="7784" i="true" u="sng">
                <a:solidFill>
                  <a:srgbClr val="253439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L</a:t>
            </a:r>
            <a:r>
              <a:rPr lang="en-US" b="true" sz="7784" i="true" strike="noStrike" u="sng">
                <a:solidFill>
                  <a:srgbClr val="253439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a</a:t>
            </a:r>
            <a:r>
              <a:rPr lang="en-US" b="true" sz="7784" i="true" strike="noStrike" u="sng">
                <a:solidFill>
                  <a:srgbClr val="253439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n</a:t>
            </a:r>
            <a:r>
              <a:rPr lang="en-US" b="true" sz="7784" i="true" strike="noStrike" u="sng">
                <a:solidFill>
                  <a:srgbClr val="253439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e </a:t>
            </a:r>
            <a:r>
              <a:rPr lang="en-US" b="true" sz="7784" i="true" strike="noStrike" u="sng">
                <a:solidFill>
                  <a:srgbClr val="253439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D</a:t>
            </a:r>
            <a:r>
              <a:rPr lang="en-US" b="true" sz="7784" i="true" strike="noStrike" u="sng">
                <a:solidFill>
                  <a:srgbClr val="253439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e</a:t>
            </a:r>
            <a:r>
              <a:rPr lang="en-US" b="true" sz="7784" i="true" strike="noStrike" u="sng">
                <a:solidFill>
                  <a:srgbClr val="253439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t</a:t>
            </a:r>
            <a:r>
              <a:rPr lang="en-US" b="true" sz="7784" i="true" strike="noStrike" u="sng">
                <a:solidFill>
                  <a:srgbClr val="253439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e</a:t>
            </a:r>
            <a:r>
              <a:rPr lang="en-US" b="true" sz="7784" i="true" strike="noStrike" u="sng">
                <a:solidFill>
                  <a:srgbClr val="253439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ctio</a:t>
            </a:r>
            <a:r>
              <a:rPr lang="en-US" b="true" sz="7784" i="true" strike="noStrike" u="sng">
                <a:solidFill>
                  <a:srgbClr val="253439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n Pipeline Result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21910" y="4188433"/>
            <a:ext cx="2224346" cy="103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999"/>
              </a:lnSpc>
              <a:spcBef>
                <a:spcPct val="0"/>
              </a:spcBef>
            </a:pPr>
            <a:r>
              <a:rPr lang="en-US" sz="3999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Enhanced Input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408288" y="4188433"/>
            <a:ext cx="2689472" cy="103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999"/>
              </a:lnSpc>
              <a:spcBef>
                <a:spcPct val="0"/>
              </a:spcBef>
            </a:pPr>
            <a:r>
              <a:rPr lang="en-US" sz="3999" strike="noStrik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Grayscale Conversion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75136" y="4186414"/>
            <a:ext cx="3239806" cy="53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999"/>
              </a:lnSpc>
              <a:spcBef>
                <a:spcPct val="0"/>
              </a:spcBef>
            </a:pPr>
            <a:r>
              <a:rPr lang="en-US" sz="3999" strike="noStrik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Ga</a:t>
            </a:r>
            <a:r>
              <a:rPr lang="en-US" sz="3999" strike="noStrik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u</a:t>
            </a:r>
            <a:r>
              <a:rPr lang="en-US" sz="3999" strike="noStrik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ssi</a:t>
            </a:r>
            <a:r>
              <a:rPr lang="en-US" sz="3999" strike="noStrik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3999" strike="noStrik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n-US" sz="3999" strike="noStrik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 Blur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713484" y="4186414"/>
            <a:ext cx="2647139" cy="103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999"/>
              </a:lnSpc>
              <a:spcBef>
                <a:spcPct val="0"/>
              </a:spcBef>
            </a:pPr>
            <a:r>
              <a:rPr lang="en-US" sz="3999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r>
              <a:rPr lang="en-US" sz="3999" strike="noStrik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anny Edge Detection</a:t>
            </a:r>
            <a:r>
              <a:rPr lang="en-US" sz="3999" strike="noStrik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953103" y="6483840"/>
            <a:ext cx="2167902" cy="103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999"/>
              </a:lnSpc>
              <a:spcBef>
                <a:spcPct val="0"/>
              </a:spcBef>
            </a:pPr>
            <a:r>
              <a:rPr lang="en-US" sz="3999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R</a:t>
            </a:r>
            <a:r>
              <a:rPr lang="en-US" sz="3999" strike="noStrik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r>
              <a:rPr lang="en-US" sz="3999" strike="noStrik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gion</a:t>
            </a:r>
            <a:r>
              <a:rPr lang="en-US" sz="3999" strike="noStrik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 o</a:t>
            </a:r>
            <a:r>
              <a:rPr lang="en-US" sz="3999" strike="noStrik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f I</a:t>
            </a:r>
            <a:r>
              <a:rPr lang="en-US" sz="3999" strike="noStrik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n-US" sz="3999" strike="noStrik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r>
              <a:rPr lang="en-US" sz="3999" strike="noStrik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er</a:t>
            </a:r>
            <a:r>
              <a:rPr lang="en-US" sz="3999" strike="noStrik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r>
              <a:rPr lang="en-US" sz="3999" strike="noStrik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r>
              <a:rPr lang="en-US" sz="3999" strike="noStrik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t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457392" y="6988665"/>
            <a:ext cx="3875294" cy="53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999"/>
              </a:lnSpc>
              <a:spcBef>
                <a:spcPct val="0"/>
              </a:spcBef>
            </a:pPr>
            <a:r>
              <a:rPr lang="en-US" sz="3999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Hough T</a:t>
            </a:r>
            <a:r>
              <a:rPr lang="en-US" sz="3999" strike="noStrik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rans</a:t>
            </a:r>
            <a:r>
              <a:rPr lang="en-US" sz="3999" strike="noStrik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f</a:t>
            </a:r>
            <a:r>
              <a:rPr lang="en-US" sz="3999" strike="noStrik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r>
              <a:rPr lang="en-US" sz="3999" strike="noStrik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rm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538097" y="6988665"/>
            <a:ext cx="2429854" cy="53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999"/>
              </a:lnSpc>
              <a:spcBef>
                <a:spcPct val="0"/>
              </a:spcBef>
            </a:pPr>
            <a:r>
              <a:rPr lang="en-US" sz="3999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L</a:t>
            </a:r>
            <a:r>
              <a:rPr lang="en-US" sz="3999" strike="noStrik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3999" strike="noStrik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n-US" sz="3999" strike="noStrik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e </a:t>
            </a:r>
            <a:r>
              <a:rPr lang="en-US" sz="3999" strike="noStrik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Li</a:t>
            </a:r>
            <a:r>
              <a:rPr lang="en-US" sz="3999" strike="noStrik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nes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32587" y="6988665"/>
            <a:ext cx="2957741" cy="103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999"/>
              </a:lnSpc>
              <a:spcBef>
                <a:spcPct val="0"/>
              </a:spcBef>
            </a:pPr>
            <a:r>
              <a:rPr lang="en-US" sz="3999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Fin</a:t>
            </a:r>
            <a:r>
              <a:rPr lang="en-US" sz="3999" strike="noStrik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al </a:t>
            </a:r>
            <a:r>
              <a:rPr lang="en-US" sz="3999" strike="noStrik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Output</a:t>
            </a:r>
          </a:p>
          <a:p>
            <a:pPr algn="just" marL="0" indent="0" lvl="0">
              <a:lnSpc>
                <a:spcPts val="39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29E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15477180" y="1028700"/>
            <a:ext cx="274763" cy="274763"/>
            <a:chOff x="0" y="0"/>
            <a:chExt cx="178795" cy="178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8795" cy="178795"/>
            </a:xfrm>
            <a:custGeom>
              <a:avLst/>
              <a:gdLst/>
              <a:ahLst/>
              <a:cxnLst/>
              <a:rect r="r" b="b" t="t" l="l"/>
              <a:pathLst>
                <a:path h="178795" w="178795">
                  <a:moveTo>
                    <a:pt x="0" y="0"/>
                  </a:moveTo>
                  <a:lnTo>
                    <a:pt x="178795" y="0"/>
                  </a:lnTo>
                  <a:lnTo>
                    <a:pt x="178795" y="178795"/>
                  </a:lnTo>
                  <a:lnTo>
                    <a:pt x="0" y="178795"/>
                  </a:lnTo>
                  <a:close/>
                </a:path>
              </a:pathLst>
            </a:custGeom>
            <a:solidFill>
              <a:srgbClr val="25343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8795" cy="216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16015926" y="1028700"/>
            <a:ext cx="274763" cy="274763"/>
            <a:chOff x="0" y="0"/>
            <a:chExt cx="178795" cy="1787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8795" cy="178795"/>
            </a:xfrm>
            <a:custGeom>
              <a:avLst/>
              <a:gdLst/>
              <a:ahLst/>
              <a:cxnLst/>
              <a:rect r="r" b="b" t="t" l="l"/>
              <a:pathLst>
                <a:path h="178795" w="178795">
                  <a:moveTo>
                    <a:pt x="0" y="0"/>
                  </a:moveTo>
                  <a:lnTo>
                    <a:pt x="178795" y="0"/>
                  </a:lnTo>
                  <a:lnTo>
                    <a:pt x="178795" y="178795"/>
                  </a:lnTo>
                  <a:lnTo>
                    <a:pt x="0" y="178795"/>
                  </a:lnTo>
                  <a:close/>
                </a:path>
              </a:pathLst>
            </a:custGeom>
            <a:solidFill>
              <a:srgbClr val="F6F4F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78795" cy="216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16554672" y="1028700"/>
            <a:ext cx="274763" cy="274763"/>
            <a:chOff x="0" y="0"/>
            <a:chExt cx="178795" cy="1787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8795" cy="178795"/>
            </a:xfrm>
            <a:custGeom>
              <a:avLst/>
              <a:gdLst/>
              <a:ahLst/>
              <a:cxnLst/>
              <a:rect r="r" b="b" t="t" l="l"/>
              <a:pathLst>
                <a:path h="178795" w="178795">
                  <a:moveTo>
                    <a:pt x="0" y="0"/>
                  </a:moveTo>
                  <a:lnTo>
                    <a:pt x="178795" y="0"/>
                  </a:lnTo>
                  <a:lnTo>
                    <a:pt x="178795" y="178795"/>
                  </a:lnTo>
                  <a:lnTo>
                    <a:pt x="0" y="178795"/>
                  </a:lnTo>
                  <a:close/>
                </a:path>
              </a:pathLst>
            </a:custGeom>
            <a:solidFill>
              <a:srgbClr val="7C898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78795" cy="216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pic>
        <p:nvPicPr>
          <p:cNvPr name="Picture 11" id="11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0" y="4968551"/>
            <a:ext cx="9144000" cy="5318449"/>
          </a:xfrm>
          <a:prstGeom prst="rect">
            <a:avLst/>
          </a:prstGeom>
        </p:spPr>
      </p:pic>
      <p:pic>
        <p:nvPicPr>
          <p:cNvPr name="Picture 12" id="12">
            <a:hlinkClick action="ppaction://media"/>
          </p:cNvPr>
          <p:cNvPicPr>
            <a:picLocks noChangeAspect="true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5"/>
          <a:srcRect l="0" t="0" r="0" b="0"/>
          <a:stretch>
            <a:fillRect/>
          </a:stretch>
        </p:blipFill>
        <p:spPr>
          <a:xfrm flipH="false" flipV="false" rot="0">
            <a:off x="9144000" y="4968551"/>
            <a:ext cx="9144000" cy="5318449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997311" y="1677920"/>
            <a:ext cx="14293377" cy="3059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34"/>
              </a:lnSpc>
            </a:pPr>
            <a:r>
              <a:rPr lang="en-US" sz="7934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Video Demonstration</a:t>
            </a:r>
          </a:p>
          <a:p>
            <a:pPr algn="ctr" marL="0" indent="0" lvl="0">
              <a:lnSpc>
                <a:spcPts val="7934"/>
              </a:lnSpc>
            </a:pPr>
            <a:r>
              <a:rPr lang="en-US" sz="7934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Real-Time Lane Detection in Action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52573" y="1575367"/>
            <a:ext cx="1352255" cy="274763"/>
            <a:chOff x="0" y="0"/>
            <a:chExt cx="1803007" cy="366350"/>
          </a:xfrm>
        </p:grpSpPr>
        <p:grpSp>
          <p:nvGrpSpPr>
            <p:cNvPr name="Group 3" id="3"/>
            <p:cNvGrpSpPr/>
            <p:nvPr/>
          </p:nvGrpSpPr>
          <p:grpSpPr>
            <a:xfrm rot="-5400000">
              <a:off x="0" y="0"/>
              <a:ext cx="366350" cy="366350"/>
              <a:chOff x="0" y="0"/>
              <a:chExt cx="178795" cy="178795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78795" cy="178795"/>
              </a:xfrm>
              <a:custGeom>
                <a:avLst/>
                <a:gdLst/>
                <a:ahLst/>
                <a:cxnLst/>
                <a:rect r="r" b="b" t="t" l="l"/>
                <a:pathLst>
                  <a:path h="178795" w="178795">
                    <a:moveTo>
                      <a:pt x="0" y="0"/>
                    </a:moveTo>
                    <a:lnTo>
                      <a:pt x="178795" y="0"/>
                    </a:lnTo>
                    <a:lnTo>
                      <a:pt x="178795" y="178795"/>
                    </a:lnTo>
                    <a:lnTo>
                      <a:pt x="0" y="178795"/>
                    </a:lnTo>
                    <a:close/>
                  </a:path>
                </a:pathLst>
              </a:custGeom>
              <a:solidFill>
                <a:srgbClr val="253439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178795" cy="2168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79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-5400000">
              <a:off x="718328" y="0"/>
              <a:ext cx="366350" cy="366350"/>
              <a:chOff x="0" y="0"/>
              <a:chExt cx="178795" cy="178795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78795" cy="178795"/>
              </a:xfrm>
              <a:custGeom>
                <a:avLst/>
                <a:gdLst/>
                <a:ahLst/>
                <a:cxnLst/>
                <a:rect r="r" b="b" t="t" l="l"/>
                <a:pathLst>
                  <a:path h="178795" w="178795">
                    <a:moveTo>
                      <a:pt x="0" y="0"/>
                    </a:moveTo>
                    <a:lnTo>
                      <a:pt x="178795" y="0"/>
                    </a:lnTo>
                    <a:lnTo>
                      <a:pt x="178795" y="178795"/>
                    </a:lnTo>
                    <a:lnTo>
                      <a:pt x="0" y="178795"/>
                    </a:lnTo>
                    <a:close/>
                  </a:path>
                </a:pathLst>
              </a:custGeom>
              <a:solidFill>
                <a:srgbClr val="B29E84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78795" cy="2168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79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-5400000">
              <a:off x="1436657" y="0"/>
              <a:ext cx="366350" cy="366350"/>
              <a:chOff x="0" y="0"/>
              <a:chExt cx="178795" cy="17879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78795" cy="178795"/>
              </a:xfrm>
              <a:custGeom>
                <a:avLst/>
                <a:gdLst/>
                <a:ahLst/>
                <a:cxnLst/>
                <a:rect r="r" b="b" t="t" l="l"/>
                <a:pathLst>
                  <a:path h="178795" w="178795">
                    <a:moveTo>
                      <a:pt x="0" y="0"/>
                    </a:moveTo>
                    <a:lnTo>
                      <a:pt x="178795" y="0"/>
                    </a:lnTo>
                    <a:lnTo>
                      <a:pt x="178795" y="178795"/>
                    </a:lnTo>
                    <a:lnTo>
                      <a:pt x="0" y="178795"/>
                    </a:lnTo>
                    <a:close/>
                  </a:path>
                </a:pathLst>
              </a:custGeom>
              <a:solidFill>
                <a:srgbClr val="7C898B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78795" cy="2168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799"/>
                  </a:lnSpc>
                </a:pPr>
              </a:p>
            </p:txBody>
          </p:sp>
        </p:grpSp>
      </p:grpSp>
      <p:sp>
        <p:nvSpPr>
          <p:cNvPr name="Freeform 12" id="12"/>
          <p:cNvSpPr/>
          <p:nvPr/>
        </p:nvSpPr>
        <p:spPr>
          <a:xfrm flipH="false" flipV="false" rot="0">
            <a:off x="1577656" y="3262034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9" y="0"/>
                </a:lnTo>
                <a:lnTo>
                  <a:pt x="635695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116498" y="872643"/>
            <a:ext cx="10055003" cy="1804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00"/>
              </a:lnSpc>
              <a:spcBef>
                <a:spcPct val="0"/>
              </a:spcBef>
            </a:pPr>
            <a:r>
              <a:rPr lang="en-US" sz="6900" strike="noStrike" u="non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Hardware Implementation </a:t>
            </a:r>
            <a:r>
              <a:rPr lang="en-US" sz="6900" strike="noStrike" u="non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(</a:t>
            </a:r>
            <a:r>
              <a:rPr lang="en-US" sz="6900" strike="noStrike" u="non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PYNQ-Z2</a:t>
            </a:r>
            <a:r>
              <a:rPr lang="en-US" sz="6900" strike="noStrike" u="non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743413" y="3804030"/>
            <a:ext cx="9279637" cy="4695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391" indent="-323695" lvl="1">
              <a:lnSpc>
                <a:spcPts val="4197"/>
              </a:lnSpc>
              <a:spcBef>
                <a:spcPct val="0"/>
              </a:spcBef>
              <a:buFont typeface="Arial"/>
              <a:buChar char="•"/>
            </a:pPr>
            <a:r>
              <a:rPr lang="en-US" sz="2998" spc="-59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Deployed t</a:t>
            </a:r>
            <a:r>
              <a:rPr lang="en-US" sz="2998" spc="-59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he pipeline on PYNQ-Z2 development board</a:t>
            </a:r>
          </a:p>
          <a:p>
            <a:pPr algn="l" marL="647391" indent="-323695" lvl="1">
              <a:lnSpc>
                <a:spcPts val="4197"/>
              </a:lnSpc>
              <a:spcBef>
                <a:spcPct val="0"/>
              </a:spcBef>
              <a:buFont typeface="Arial"/>
              <a:buChar char="•"/>
            </a:pPr>
            <a:r>
              <a:rPr lang="en-US" sz="2998" spc="-59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Used external camera for real-time input</a:t>
            </a:r>
          </a:p>
          <a:p>
            <a:pPr algn="l" marL="647391" indent="-323695" lvl="1">
              <a:lnSpc>
                <a:spcPts val="4197"/>
              </a:lnSpc>
              <a:spcBef>
                <a:spcPct val="0"/>
              </a:spcBef>
              <a:buFont typeface="Arial"/>
              <a:buChar char="•"/>
            </a:pPr>
            <a:r>
              <a:rPr lang="en-US" sz="2998" spc="-59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Processing performed on embedded ARM processor</a:t>
            </a:r>
          </a:p>
          <a:p>
            <a:pPr algn="l" marL="647391" indent="-323695" lvl="1">
              <a:lnSpc>
                <a:spcPts val="4197"/>
              </a:lnSpc>
              <a:spcBef>
                <a:spcPct val="0"/>
              </a:spcBef>
              <a:buFont typeface="Arial"/>
              <a:buChar char="•"/>
            </a:pPr>
            <a:r>
              <a:rPr lang="en-US" sz="2998" spc="-59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Achieved ~9–10 FPS for live enhancement and lane detection</a:t>
            </a:r>
          </a:p>
          <a:p>
            <a:pPr algn="l" marL="647391" indent="-323695" lvl="1">
              <a:lnSpc>
                <a:spcPts val="4197"/>
              </a:lnSpc>
              <a:spcBef>
                <a:spcPct val="0"/>
              </a:spcBef>
              <a:buFont typeface="Arial"/>
              <a:buChar char="•"/>
            </a:pPr>
            <a:r>
              <a:rPr lang="en-US" sz="2998" spc="-59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Demonstrated feasibility of real-time low-light processing</a:t>
            </a:r>
          </a:p>
          <a:p>
            <a:pPr algn="l" marL="0" indent="0" lvl="0">
              <a:lnSpc>
                <a:spcPts val="419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-5400000">
            <a:off x="-1321028" y="4719378"/>
            <a:ext cx="8229600" cy="848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95"/>
              </a:lnSpc>
              <a:spcBef>
                <a:spcPct val="0"/>
              </a:spcBef>
            </a:pPr>
            <a:r>
              <a:rPr lang="en-US" sz="6395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Key </a:t>
            </a:r>
            <a:r>
              <a:rPr lang="en-US" sz="6395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Contributions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602349" y="1887834"/>
            <a:ext cx="1444016" cy="47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597"/>
              </a:lnSpc>
              <a:spcBef>
                <a:spcPct val="0"/>
              </a:spcBef>
            </a:pPr>
            <a:r>
              <a:rPr lang="en-US" sz="3597">
                <a:solidFill>
                  <a:srgbClr val="7C898B"/>
                </a:solidFill>
                <a:latin typeface="Lato"/>
                <a:ea typeface="Lato"/>
                <a:cs typeface="Lato"/>
                <a:sym typeface="Lato"/>
              </a:rPr>
              <a:t>01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602349" y="4923240"/>
            <a:ext cx="1444016" cy="47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597"/>
              </a:lnSpc>
              <a:spcBef>
                <a:spcPct val="0"/>
              </a:spcBef>
            </a:pPr>
            <a:r>
              <a:rPr lang="en-US" sz="3597">
                <a:solidFill>
                  <a:srgbClr val="7C898B"/>
                </a:solidFill>
                <a:latin typeface="Lato"/>
                <a:ea typeface="Lato"/>
                <a:cs typeface="Lato"/>
                <a:sym typeface="Lato"/>
              </a:rPr>
              <a:t>03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602349" y="3395366"/>
            <a:ext cx="1444016" cy="47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597"/>
              </a:lnSpc>
              <a:spcBef>
                <a:spcPct val="0"/>
              </a:spcBef>
            </a:pPr>
            <a:r>
              <a:rPr lang="en-US" sz="3597">
                <a:solidFill>
                  <a:srgbClr val="7C898B"/>
                </a:solidFill>
                <a:latin typeface="Lato"/>
                <a:ea typeface="Lato"/>
                <a:cs typeface="Lato"/>
                <a:sym typeface="Lato"/>
              </a:rPr>
              <a:t>02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381720" y="-218676"/>
            <a:ext cx="1410420" cy="10724351"/>
            <a:chOff x="0" y="0"/>
            <a:chExt cx="371469" cy="28245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1469" cy="2824520"/>
            </a:xfrm>
            <a:custGeom>
              <a:avLst/>
              <a:gdLst/>
              <a:ahLst/>
              <a:cxnLst/>
              <a:rect r="r" b="b" t="t" l="l"/>
              <a:pathLst>
                <a:path h="2824520" w="371469">
                  <a:moveTo>
                    <a:pt x="0" y="0"/>
                  </a:moveTo>
                  <a:lnTo>
                    <a:pt x="371469" y="0"/>
                  </a:lnTo>
                  <a:lnTo>
                    <a:pt x="371469" y="2824520"/>
                  </a:lnTo>
                  <a:lnTo>
                    <a:pt x="0" y="2824520"/>
                  </a:lnTo>
                  <a:close/>
                </a:path>
              </a:pathLst>
            </a:custGeom>
            <a:solidFill>
              <a:srgbClr val="7C898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71469" cy="2862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229320" y="-66276"/>
            <a:ext cx="1258020" cy="1655660"/>
            <a:chOff x="0" y="0"/>
            <a:chExt cx="331330" cy="43605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31330" cy="436059"/>
            </a:xfrm>
            <a:custGeom>
              <a:avLst/>
              <a:gdLst/>
              <a:ahLst/>
              <a:cxnLst/>
              <a:rect r="r" b="b" t="t" l="l"/>
              <a:pathLst>
                <a:path h="436059" w="331330">
                  <a:moveTo>
                    <a:pt x="0" y="0"/>
                  </a:moveTo>
                  <a:lnTo>
                    <a:pt x="331330" y="0"/>
                  </a:lnTo>
                  <a:lnTo>
                    <a:pt x="331330" y="436059"/>
                  </a:lnTo>
                  <a:lnTo>
                    <a:pt x="0" y="436059"/>
                  </a:lnTo>
                  <a:close/>
                </a:path>
              </a:pathLst>
            </a:custGeom>
            <a:solidFill>
              <a:srgbClr val="25343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31330" cy="4741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430821" y="1897359"/>
            <a:ext cx="12663338" cy="103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Developed an improved low-light image enhancement pipeline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430821" y="7935616"/>
            <a:ext cx="12659171" cy="53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Successfully deployed the system on PYNQ-Z2 hardware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430821" y="3404891"/>
            <a:ext cx="12663338" cy="103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Exp</a:t>
            </a:r>
            <a:r>
              <a:rPr lang="en-US" sz="39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lored and compared multiple enhancement techniques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430821" y="4916191"/>
            <a:ext cx="12542788" cy="53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Designed an adaptive and stable enhancement approach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602349" y="5980515"/>
            <a:ext cx="1444016" cy="47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597"/>
              </a:lnSpc>
              <a:spcBef>
                <a:spcPct val="0"/>
              </a:spcBef>
            </a:pPr>
            <a:r>
              <a:rPr lang="en-US" sz="3597">
                <a:solidFill>
                  <a:srgbClr val="7C898B"/>
                </a:solidFill>
                <a:latin typeface="Lato"/>
                <a:ea typeface="Lato"/>
                <a:cs typeface="Lato"/>
                <a:sym typeface="Lato"/>
              </a:rPr>
              <a:t>04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602349" y="6986990"/>
            <a:ext cx="1444016" cy="47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597"/>
              </a:lnSpc>
              <a:spcBef>
                <a:spcPct val="0"/>
              </a:spcBef>
            </a:pPr>
            <a:r>
              <a:rPr lang="en-US" sz="3597">
                <a:solidFill>
                  <a:srgbClr val="7C898B"/>
                </a:solidFill>
                <a:latin typeface="Lato"/>
                <a:ea typeface="Lato"/>
                <a:cs typeface="Lato"/>
                <a:sym typeface="Lato"/>
              </a:rPr>
              <a:t>05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602349" y="7993465"/>
            <a:ext cx="1444016" cy="47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597"/>
              </a:lnSpc>
              <a:spcBef>
                <a:spcPct val="0"/>
              </a:spcBef>
            </a:pPr>
            <a:r>
              <a:rPr lang="en-US" sz="3597">
                <a:solidFill>
                  <a:srgbClr val="7C898B"/>
                </a:solidFill>
                <a:latin typeface="Lato"/>
                <a:ea typeface="Lato"/>
                <a:cs typeface="Lato"/>
                <a:sym typeface="Lato"/>
              </a:rPr>
              <a:t>06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430821" y="5922666"/>
            <a:ext cx="11548021" cy="53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Integrated enhancement with lane detection system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430821" y="6929141"/>
            <a:ext cx="7912447" cy="53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Built a real-time processing pipeline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998685" y="1687375"/>
            <a:ext cx="1444016" cy="47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597"/>
              </a:lnSpc>
              <a:spcBef>
                <a:spcPct val="0"/>
              </a:spcBef>
            </a:pPr>
            <a:r>
              <a:rPr lang="en-US" sz="3597">
                <a:solidFill>
                  <a:srgbClr val="7C898B"/>
                </a:solidFill>
                <a:latin typeface="Lato"/>
                <a:ea typeface="Lato"/>
                <a:cs typeface="Lato"/>
                <a:sym typeface="Lato"/>
              </a:rPr>
              <a:t>01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998685" y="4938930"/>
            <a:ext cx="1444016" cy="47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597"/>
              </a:lnSpc>
              <a:spcBef>
                <a:spcPct val="0"/>
              </a:spcBef>
            </a:pPr>
            <a:r>
              <a:rPr lang="en-US" sz="3597">
                <a:solidFill>
                  <a:srgbClr val="7C898B"/>
                </a:solidFill>
                <a:latin typeface="Lato"/>
                <a:ea typeface="Lato"/>
                <a:cs typeface="Lato"/>
                <a:sym typeface="Lato"/>
              </a:rPr>
              <a:t>03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998685" y="3311433"/>
            <a:ext cx="1444016" cy="47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597"/>
              </a:lnSpc>
              <a:spcBef>
                <a:spcPct val="0"/>
              </a:spcBef>
            </a:pPr>
            <a:r>
              <a:rPr lang="en-US" sz="3597">
                <a:solidFill>
                  <a:srgbClr val="7C898B"/>
                </a:solidFill>
                <a:latin typeface="Lato"/>
                <a:ea typeface="Lato"/>
                <a:cs typeface="Lato"/>
                <a:sym typeface="Lato"/>
              </a:rPr>
              <a:t>02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998685" y="6566427"/>
            <a:ext cx="1444016" cy="47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597"/>
              </a:lnSpc>
              <a:spcBef>
                <a:spcPct val="0"/>
              </a:spcBef>
            </a:pPr>
            <a:r>
              <a:rPr lang="en-US" sz="3597">
                <a:solidFill>
                  <a:srgbClr val="7C898B"/>
                </a:solidFill>
                <a:latin typeface="Lato"/>
                <a:ea typeface="Lato"/>
                <a:cs typeface="Lato"/>
                <a:sym typeface="Lato"/>
              </a:rPr>
              <a:t>04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820417" y="1376514"/>
            <a:ext cx="5675209" cy="989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95"/>
              </a:lnSpc>
              <a:spcBef>
                <a:spcPct val="0"/>
              </a:spcBef>
            </a:pPr>
            <a:r>
              <a:rPr lang="en-US" sz="1925" spc="-38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B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alancing high-quality enhancement with real-time performance was a major challenge, as improving visual quality often increased computational cost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20417" y="4628069"/>
            <a:ext cx="5463745" cy="989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95"/>
              </a:lnSpc>
              <a:spcBef>
                <a:spcPct val="0"/>
              </a:spcBef>
            </a:pPr>
            <a:r>
              <a:rPr lang="en-US" sz="1925" spc="-38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some 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om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put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tio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na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ll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y 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nte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nsiv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e 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alg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r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ith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m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s required simplification of pipeline 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to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 r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u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n 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f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ficiently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 o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ar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dwa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r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w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th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 li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mi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ed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r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sou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r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820417" y="3000572"/>
            <a:ext cx="5675209" cy="989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95"/>
              </a:lnSpc>
              <a:spcBef>
                <a:spcPct val="0"/>
              </a:spcBef>
            </a:pPr>
            <a:r>
              <a:rPr lang="en-US" sz="1925" spc="-38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P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r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event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in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g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ov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r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-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ha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nce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me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nt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 i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 e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xt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reme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l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y 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lo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w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-l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g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 scenerios 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requir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d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 c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arefu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l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 consideration 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of 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par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amet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rs an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d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fi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l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r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in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g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 me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thods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20417" y="6255566"/>
            <a:ext cx="5675209" cy="989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95"/>
              </a:lnSpc>
              <a:spcBef>
                <a:spcPct val="0"/>
              </a:spcBef>
            </a:pPr>
            <a:r>
              <a:rPr lang="en-US" sz="1925" spc="-38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su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rin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g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 st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ab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le 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an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d co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ns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ten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t l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ne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 d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ec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tion 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acr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ss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 di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ff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ere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nt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 lighting within the ROI was a difficult task and required for us to change ROI multiple times.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07653" y="3676152"/>
            <a:ext cx="5692518" cy="207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Challenges &amp; </a:t>
            </a:r>
            <a:r>
              <a:rPr lang="en-US" sz="8000" strike="noStrike" u="non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L</a:t>
            </a:r>
            <a:r>
              <a:rPr lang="en-US" sz="8000" strike="noStrike" u="non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r>
              <a:rPr lang="en-US" sz="8000" strike="noStrike" u="non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8000" strike="noStrike" u="non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rn</a:t>
            </a:r>
            <a:r>
              <a:rPr lang="en-US" sz="8000" strike="noStrike" u="non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in</a:t>
            </a:r>
            <a:r>
              <a:rPr lang="en-US" sz="8000" strike="noStrike" u="non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g</a:t>
            </a:r>
            <a:r>
              <a:rPr lang="en-US" sz="8000" strike="noStrike" u="non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s</a:t>
            </a:r>
          </a:p>
        </p:txBody>
      </p:sp>
      <p:grpSp>
        <p:nvGrpSpPr>
          <p:cNvPr name="Group 11" id="11"/>
          <p:cNvGrpSpPr/>
          <p:nvPr/>
        </p:nvGrpSpPr>
        <p:grpSpPr>
          <a:xfrm rot="-5400000">
            <a:off x="4096372" y="3676220"/>
            <a:ext cx="225880" cy="5403316"/>
            <a:chOff x="0" y="0"/>
            <a:chExt cx="301173" cy="7204422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301173" cy="7204422"/>
              <a:chOff x="0" y="0"/>
              <a:chExt cx="59491" cy="142309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9491" cy="1423096"/>
              </a:xfrm>
              <a:custGeom>
                <a:avLst/>
                <a:gdLst/>
                <a:ahLst/>
                <a:cxnLst/>
                <a:rect r="r" b="b" t="t" l="l"/>
                <a:pathLst>
                  <a:path h="1423096" w="59491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423096"/>
                    </a:lnTo>
                    <a:lnTo>
                      <a:pt x="0" y="1423096"/>
                    </a:lnTo>
                    <a:close/>
                  </a:path>
                </a:pathLst>
              </a:custGeom>
              <a:solidFill>
                <a:srgbClr val="7C898B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59491" cy="14611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79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301173" cy="1830478"/>
              <a:chOff x="0" y="0"/>
              <a:chExt cx="59491" cy="361576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59491" cy="361576"/>
              </a:xfrm>
              <a:custGeom>
                <a:avLst/>
                <a:gdLst/>
                <a:ahLst/>
                <a:cxnLst/>
                <a:rect r="r" b="b" t="t" l="l"/>
                <a:pathLst>
                  <a:path h="361576" w="59491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361576"/>
                    </a:lnTo>
                    <a:lnTo>
                      <a:pt x="0" y="361576"/>
                    </a:lnTo>
                    <a:close/>
                  </a:path>
                </a:pathLst>
              </a:custGeom>
              <a:solidFill>
                <a:srgbClr val="253439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59491" cy="39967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799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1828197"/>
              <a:ext cx="301173" cy="795134"/>
              <a:chOff x="0" y="0"/>
              <a:chExt cx="59491" cy="157064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59491" cy="157064"/>
              </a:xfrm>
              <a:custGeom>
                <a:avLst/>
                <a:gdLst/>
                <a:ahLst/>
                <a:cxnLst/>
                <a:rect r="r" b="b" t="t" l="l"/>
                <a:pathLst>
                  <a:path h="157064" w="59491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57064"/>
                    </a:lnTo>
                    <a:lnTo>
                      <a:pt x="0" y="157064"/>
                    </a:lnTo>
                    <a:close/>
                  </a:path>
                </a:pathLst>
              </a:custGeom>
              <a:solidFill>
                <a:srgbClr val="B29E84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59491" cy="1951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799"/>
                  </a:lnSpc>
                </a:pPr>
              </a:p>
            </p:txBody>
          </p:sp>
        </p:grpSp>
      </p:grpSp>
      <p:sp>
        <p:nvSpPr>
          <p:cNvPr name="TextBox 21" id="21"/>
          <p:cNvSpPr txBox="true"/>
          <p:nvPr/>
        </p:nvSpPr>
        <p:spPr>
          <a:xfrm rot="0">
            <a:off x="10820417" y="7883063"/>
            <a:ext cx="5675209" cy="989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95"/>
              </a:lnSpc>
              <a:spcBef>
                <a:spcPct val="0"/>
              </a:spcBef>
            </a:pPr>
            <a:r>
              <a:rPr lang="en-US" sz="1925" spc="-38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U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nders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tand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ing and optimizing 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tr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ade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-offs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 betwe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n ac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cu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r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acy,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 speed, an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d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 hardware constraints was critical for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 a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chie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ing re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al-tim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e 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p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erfor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m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nc</a:t>
            </a:r>
            <a:r>
              <a:rPr lang="en-US" sz="1925" spc="-38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998685" y="8193924"/>
            <a:ext cx="1444016" cy="47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597"/>
              </a:lnSpc>
              <a:spcBef>
                <a:spcPct val="0"/>
              </a:spcBef>
            </a:pPr>
            <a:r>
              <a:rPr lang="en-US" sz="3597">
                <a:solidFill>
                  <a:srgbClr val="7C898B"/>
                </a:solidFill>
                <a:latin typeface="Lato"/>
                <a:ea typeface="Lato"/>
                <a:cs typeface="Lato"/>
                <a:sym typeface="Lato"/>
              </a:rPr>
              <a:t>05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169235" y="4484567"/>
            <a:ext cx="6090065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Future Work</a:t>
            </a:r>
          </a:p>
        </p:txBody>
      </p:sp>
      <p:grpSp>
        <p:nvGrpSpPr>
          <p:cNvPr name="Group 3" id="3"/>
          <p:cNvGrpSpPr/>
          <p:nvPr/>
        </p:nvGrpSpPr>
        <p:grpSpPr>
          <a:xfrm rot="-5400000">
            <a:off x="13757953" y="3130710"/>
            <a:ext cx="225880" cy="5403316"/>
            <a:chOff x="0" y="0"/>
            <a:chExt cx="301173" cy="7204422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301173" cy="7204422"/>
              <a:chOff x="0" y="0"/>
              <a:chExt cx="59491" cy="1423096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59491" cy="1423096"/>
              </a:xfrm>
              <a:custGeom>
                <a:avLst/>
                <a:gdLst/>
                <a:ahLst/>
                <a:cxnLst/>
                <a:rect r="r" b="b" t="t" l="l"/>
                <a:pathLst>
                  <a:path h="1423096" w="59491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423096"/>
                    </a:lnTo>
                    <a:lnTo>
                      <a:pt x="0" y="1423096"/>
                    </a:lnTo>
                    <a:close/>
                  </a:path>
                </a:pathLst>
              </a:custGeom>
              <a:solidFill>
                <a:srgbClr val="7C898B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59491" cy="14611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79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0"/>
              <a:ext cx="301173" cy="1830478"/>
              <a:chOff x="0" y="0"/>
              <a:chExt cx="59491" cy="361576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59491" cy="361576"/>
              </a:xfrm>
              <a:custGeom>
                <a:avLst/>
                <a:gdLst/>
                <a:ahLst/>
                <a:cxnLst/>
                <a:rect r="r" b="b" t="t" l="l"/>
                <a:pathLst>
                  <a:path h="361576" w="59491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361576"/>
                    </a:lnTo>
                    <a:lnTo>
                      <a:pt x="0" y="361576"/>
                    </a:lnTo>
                    <a:close/>
                  </a:path>
                </a:pathLst>
              </a:custGeom>
              <a:solidFill>
                <a:srgbClr val="253439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59491" cy="39967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79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1828197"/>
              <a:ext cx="301173" cy="795134"/>
              <a:chOff x="0" y="0"/>
              <a:chExt cx="59491" cy="157064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59491" cy="157064"/>
              </a:xfrm>
              <a:custGeom>
                <a:avLst/>
                <a:gdLst/>
                <a:ahLst/>
                <a:cxnLst/>
                <a:rect r="r" b="b" t="t" l="l"/>
                <a:pathLst>
                  <a:path h="157064" w="59491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57064"/>
                    </a:lnTo>
                    <a:lnTo>
                      <a:pt x="0" y="157064"/>
                    </a:lnTo>
                    <a:close/>
                  </a:path>
                </a:pathLst>
              </a:custGeom>
              <a:solidFill>
                <a:srgbClr val="B29E84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59491" cy="1951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799"/>
                  </a:lnSpc>
                </a:pPr>
              </a:p>
            </p:txBody>
          </p:sp>
        </p:grpSp>
      </p:grpSp>
      <p:sp>
        <p:nvSpPr>
          <p:cNvPr name="TextBox 13" id="13"/>
          <p:cNvSpPr txBox="true"/>
          <p:nvPr/>
        </p:nvSpPr>
        <p:spPr>
          <a:xfrm rot="0">
            <a:off x="0" y="1085850"/>
            <a:ext cx="10263640" cy="879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2" indent="-377826" lvl="1">
              <a:lnSpc>
                <a:spcPts val="35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Implement FPGA-based acceleration to improve processing speed and achieve higher frame rates beyond current performance</a:t>
            </a:r>
          </a:p>
          <a:p>
            <a:pPr algn="l">
              <a:lnSpc>
                <a:spcPts val="3500"/>
              </a:lnSpc>
            </a:pPr>
          </a:p>
          <a:p>
            <a:pPr algn="l" marL="755652" indent="-377826" lvl="1">
              <a:lnSpc>
                <a:spcPts val="35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Explore deep learning-based approaches for more robust and accurate lane detection under complex real-world conditions</a:t>
            </a:r>
          </a:p>
          <a:p>
            <a:pPr algn="l">
              <a:lnSpc>
                <a:spcPts val="3500"/>
              </a:lnSpc>
            </a:pPr>
          </a:p>
          <a:p>
            <a:pPr algn="l" marL="755652" indent="-377826" lvl="1">
              <a:lnSpc>
                <a:spcPts val="35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Enhance performance under extreme lighting scenarios such as heavy glare, fog, and very low visibility environments</a:t>
            </a:r>
          </a:p>
          <a:p>
            <a:pPr algn="l">
              <a:lnSpc>
                <a:spcPts val="3500"/>
              </a:lnSpc>
            </a:pPr>
          </a:p>
          <a:p>
            <a:pPr algn="l" marL="755652" indent="-377826" lvl="1">
              <a:lnSpc>
                <a:spcPts val="35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Optimize the pipeline further for better resource utilization and improved efficiency on embedded hardware platforms</a:t>
            </a:r>
          </a:p>
          <a:p>
            <a:pPr algn="l">
              <a:lnSpc>
                <a:spcPts val="3500"/>
              </a:lnSpc>
            </a:pPr>
          </a:p>
          <a:p>
            <a:pPr algn="l" marL="755652" indent="-377826" lvl="1">
              <a:lnSpc>
                <a:spcPts val="35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Integrate the system into a complete ADAS(Advanced Driver Assistance Systems) framework for real-world deployment and testing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0184" y="4289058"/>
            <a:ext cx="6090065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Conclusion</a:t>
            </a:r>
          </a:p>
        </p:txBody>
      </p:sp>
      <p:grpSp>
        <p:nvGrpSpPr>
          <p:cNvPr name="Group 3" id="3"/>
          <p:cNvGrpSpPr/>
          <p:nvPr/>
        </p:nvGrpSpPr>
        <p:grpSpPr>
          <a:xfrm rot="-5400000">
            <a:off x="3278902" y="2935200"/>
            <a:ext cx="225880" cy="5403316"/>
            <a:chOff x="0" y="0"/>
            <a:chExt cx="301173" cy="7204422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301173" cy="7204422"/>
              <a:chOff x="0" y="0"/>
              <a:chExt cx="59491" cy="1423096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59491" cy="1423096"/>
              </a:xfrm>
              <a:custGeom>
                <a:avLst/>
                <a:gdLst/>
                <a:ahLst/>
                <a:cxnLst/>
                <a:rect r="r" b="b" t="t" l="l"/>
                <a:pathLst>
                  <a:path h="1423096" w="59491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423096"/>
                    </a:lnTo>
                    <a:lnTo>
                      <a:pt x="0" y="1423096"/>
                    </a:lnTo>
                    <a:close/>
                  </a:path>
                </a:pathLst>
              </a:custGeom>
              <a:solidFill>
                <a:srgbClr val="7C898B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59491" cy="14611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79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0"/>
              <a:ext cx="301173" cy="1830478"/>
              <a:chOff x="0" y="0"/>
              <a:chExt cx="59491" cy="361576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59491" cy="361576"/>
              </a:xfrm>
              <a:custGeom>
                <a:avLst/>
                <a:gdLst/>
                <a:ahLst/>
                <a:cxnLst/>
                <a:rect r="r" b="b" t="t" l="l"/>
                <a:pathLst>
                  <a:path h="361576" w="59491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361576"/>
                    </a:lnTo>
                    <a:lnTo>
                      <a:pt x="0" y="361576"/>
                    </a:lnTo>
                    <a:close/>
                  </a:path>
                </a:pathLst>
              </a:custGeom>
              <a:solidFill>
                <a:srgbClr val="253439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59491" cy="39967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79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1828197"/>
              <a:ext cx="301173" cy="795134"/>
              <a:chOff x="0" y="0"/>
              <a:chExt cx="59491" cy="157064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59491" cy="157064"/>
              </a:xfrm>
              <a:custGeom>
                <a:avLst/>
                <a:gdLst/>
                <a:ahLst/>
                <a:cxnLst/>
                <a:rect r="r" b="b" t="t" l="l"/>
                <a:pathLst>
                  <a:path h="157064" w="59491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57064"/>
                    </a:lnTo>
                    <a:lnTo>
                      <a:pt x="0" y="157064"/>
                    </a:lnTo>
                    <a:close/>
                  </a:path>
                </a:pathLst>
              </a:custGeom>
              <a:solidFill>
                <a:srgbClr val="B29E84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59491" cy="1951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799"/>
                  </a:lnSpc>
                </a:pPr>
              </a:p>
            </p:txBody>
          </p:sp>
        </p:grpSp>
      </p:grpSp>
      <p:sp>
        <p:nvSpPr>
          <p:cNvPr name="TextBox 13" id="13"/>
          <p:cNvSpPr txBox="true"/>
          <p:nvPr/>
        </p:nvSpPr>
        <p:spPr>
          <a:xfrm rot="0">
            <a:off x="7330729" y="2085608"/>
            <a:ext cx="10263640" cy="660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2" indent="-377826" lvl="1">
              <a:lnSpc>
                <a:spcPts val="35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</a:t>
            </a:r>
            <a:r>
              <a:rPr lang="en-US" sz="35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eveloped an effective low-light image enhancement pipeline for improved visibility</a:t>
            </a:r>
          </a:p>
          <a:p>
            <a:pPr algn="l">
              <a:lnSpc>
                <a:spcPts val="3500"/>
              </a:lnSpc>
            </a:pPr>
          </a:p>
          <a:p>
            <a:pPr algn="l" marL="755652" indent="-377826" lvl="1">
              <a:lnSpc>
                <a:spcPts val="35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Enhanced lane detection performance under challenging low-light conditions</a:t>
            </a:r>
          </a:p>
          <a:p>
            <a:pPr algn="l">
              <a:lnSpc>
                <a:spcPts val="3500"/>
              </a:lnSpc>
            </a:pPr>
          </a:p>
          <a:p>
            <a:pPr algn="l" marL="755652" indent="-377826" lvl="1">
              <a:lnSpc>
                <a:spcPts val="35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Designed a simplified pipeline for real-time processing</a:t>
            </a:r>
          </a:p>
          <a:p>
            <a:pPr algn="l">
              <a:lnSpc>
                <a:spcPts val="3500"/>
              </a:lnSpc>
            </a:pPr>
          </a:p>
          <a:p>
            <a:pPr algn="l" marL="755652" indent="-377826" lvl="1">
              <a:lnSpc>
                <a:spcPts val="35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Successfully implemented and tested the system on PYNQ-Z2 hardware</a:t>
            </a:r>
          </a:p>
          <a:p>
            <a:pPr algn="l">
              <a:lnSpc>
                <a:spcPts val="3500"/>
              </a:lnSpc>
            </a:pPr>
          </a:p>
          <a:p>
            <a:pPr algn="l" marL="755652" indent="-377826" lvl="1">
              <a:lnSpc>
                <a:spcPts val="35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Demonstrated practical applicability for real-world driving scenarios</a:t>
            </a:r>
          </a:p>
          <a:p>
            <a:pPr algn="l">
              <a:lnSpc>
                <a:spcPts val="3500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2534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15458" y="3831793"/>
            <a:ext cx="8457083" cy="1927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400"/>
              </a:lnSpc>
            </a:pPr>
            <a:r>
              <a:rPr lang="en-US" sz="14400">
                <a:solidFill>
                  <a:srgbClr val="F6F4F1"/>
                </a:solidFill>
                <a:latin typeface="Lato"/>
                <a:ea typeface="Lato"/>
                <a:cs typeface="Lato"/>
                <a:sym typeface="Lato"/>
              </a:rPr>
              <a:t>Thank You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078598" y="7922336"/>
            <a:ext cx="2130805" cy="262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69"/>
              </a:lnSpc>
            </a:pPr>
            <a:r>
              <a:rPr lang="en-US" sz="1881">
                <a:solidFill>
                  <a:srgbClr val="F6F4F1"/>
                </a:solidFill>
                <a:latin typeface="Lato"/>
                <a:ea typeface="Lato"/>
                <a:cs typeface="Lato"/>
                <a:sym typeface="Lato"/>
              </a:rPr>
              <a:t>Questions Welcome</a:t>
            </a:r>
          </a:p>
        </p:txBody>
      </p:sp>
      <p:grpSp>
        <p:nvGrpSpPr>
          <p:cNvPr name="Group 4" id="4"/>
          <p:cNvGrpSpPr/>
          <p:nvPr/>
        </p:nvGrpSpPr>
        <p:grpSpPr>
          <a:xfrm rot="-5400000">
            <a:off x="9031060" y="4591188"/>
            <a:ext cx="225880" cy="5403316"/>
            <a:chOff x="0" y="0"/>
            <a:chExt cx="301173" cy="7204422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301173" cy="7204422"/>
              <a:chOff x="0" y="0"/>
              <a:chExt cx="59491" cy="1423096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59491" cy="1423096"/>
              </a:xfrm>
              <a:custGeom>
                <a:avLst/>
                <a:gdLst/>
                <a:ahLst/>
                <a:cxnLst/>
                <a:rect r="r" b="b" t="t" l="l"/>
                <a:pathLst>
                  <a:path h="1423096" w="59491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423096"/>
                    </a:lnTo>
                    <a:lnTo>
                      <a:pt x="0" y="142309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59491" cy="14611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799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0"/>
              <a:ext cx="301173" cy="1830478"/>
              <a:chOff x="0" y="0"/>
              <a:chExt cx="59491" cy="36157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59491" cy="361576"/>
              </a:xfrm>
              <a:custGeom>
                <a:avLst/>
                <a:gdLst/>
                <a:ahLst/>
                <a:cxnLst/>
                <a:rect r="r" b="b" t="t" l="l"/>
                <a:pathLst>
                  <a:path h="361576" w="59491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361576"/>
                    </a:lnTo>
                    <a:lnTo>
                      <a:pt x="0" y="361576"/>
                    </a:lnTo>
                    <a:close/>
                  </a:path>
                </a:pathLst>
              </a:custGeom>
              <a:solidFill>
                <a:srgbClr val="7C898B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59491" cy="39967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799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1828197"/>
              <a:ext cx="301173" cy="795134"/>
              <a:chOff x="0" y="0"/>
              <a:chExt cx="59491" cy="157064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59491" cy="157064"/>
              </a:xfrm>
              <a:custGeom>
                <a:avLst/>
                <a:gdLst/>
                <a:ahLst/>
                <a:cxnLst/>
                <a:rect r="r" b="b" t="t" l="l"/>
                <a:pathLst>
                  <a:path h="157064" w="59491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57064"/>
                    </a:lnTo>
                    <a:lnTo>
                      <a:pt x="0" y="157064"/>
                    </a:lnTo>
                    <a:close/>
                  </a:path>
                </a:pathLst>
              </a:custGeom>
              <a:solidFill>
                <a:srgbClr val="B29E84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59491" cy="1951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799"/>
                  </a:lnSpc>
                </a:pPr>
              </a:p>
            </p:txBody>
          </p:sp>
        </p:grpSp>
      </p:grpSp>
      <p:grpSp>
        <p:nvGrpSpPr>
          <p:cNvPr name="Group 14" id="14"/>
          <p:cNvGrpSpPr/>
          <p:nvPr/>
        </p:nvGrpSpPr>
        <p:grpSpPr>
          <a:xfrm rot="0">
            <a:off x="15477180" y="1130365"/>
            <a:ext cx="1352255" cy="274763"/>
            <a:chOff x="0" y="0"/>
            <a:chExt cx="1803007" cy="366350"/>
          </a:xfrm>
        </p:grpSpPr>
        <p:grpSp>
          <p:nvGrpSpPr>
            <p:cNvPr name="Group 15" id="15"/>
            <p:cNvGrpSpPr/>
            <p:nvPr/>
          </p:nvGrpSpPr>
          <p:grpSpPr>
            <a:xfrm rot="-5400000">
              <a:off x="0" y="0"/>
              <a:ext cx="366350" cy="366350"/>
              <a:chOff x="0" y="0"/>
              <a:chExt cx="178795" cy="17879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78795" cy="178795"/>
              </a:xfrm>
              <a:custGeom>
                <a:avLst/>
                <a:gdLst/>
                <a:ahLst/>
                <a:cxnLst/>
                <a:rect r="r" b="b" t="t" l="l"/>
                <a:pathLst>
                  <a:path h="178795" w="178795">
                    <a:moveTo>
                      <a:pt x="0" y="0"/>
                    </a:moveTo>
                    <a:lnTo>
                      <a:pt x="178795" y="0"/>
                    </a:lnTo>
                    <a:lnTo>
                      <a:pt x="178795" y="178795"/>
                    </a:lnTo>
                    <a:lnTo>
                      <a:pt x="0" y="178795"/>
                    </a:lnTo>
                    <a:close/>
                  </a:path>
                </a:pathLst>
              </a:custGeom>
              <a:solidFill>
                <a:srgbClr val="7C898B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178795" cy="2168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799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-5400000">
              <a:off x="718328" y="0"/>
              <a:ext cx="366350" cy="366350"/>
              <a:chOff x="0" y="0"/>
              <a:chExt cx="178795" cy="17879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78795" cy="178795"/>
              </a:xfrm>
              <a:custGeom>
                <a:avLst/>
                <a:gdLst/>
                <a:ahLst/>
                <a:cxnLst/>
                <a:rect r="r" b="b" t="t" l="l"/>
                <a:pathLst>
                  <a:path h="178795" w="178795">
                    <a:moveTo>
                      <a:pt x="0" y="0"/>
                    </a:moveTo>
                    <a:lnTo>
                      <a:pt x="178795" y="0"/>
                    </a:lnTo>
                    <a:lnTo>
                      <a:pt x="178795" y="178795"/>
                    </a:lnTo>
                    <a:lnTo>
                      <a:pt x="0" y="178795"/>
                    </a:lnTo>
                    <a:close/>
                  </a:path>
                </a:pathLst>
              </a:custGeom>
              <a:solidFill>
                <a:srgbClr val="B29E84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178795" cy="2168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799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-5400000">
              <a:off x="1436657" y="0"/>
              <a:ext cx="366350" cy="366350"/>
              <a:chOff x="0" y="0"/>
              <a:chExt cx="178795" cy="178795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78795" cy="178795"/>
              </a:xfrm>
              <a:custGeom>
                <a:avLst/>
                <a:gdLst/>
                <a:ahLst/>
                <a:cxnLst/>
                <a:rect r="r" b="b" t="t" l="l"/>
                <a:pathLst>
                  <a:path h="178795" w="178795">
                    <a:moveTo>
                      <a:pt x="0" y="0"/>
                    </a:moveTo>
                    <a:lnTo>
                      <a:pt x="178795" y="0"/>
                    </a:lnTo>
                    <a:lnTo>
                      <a:pt x="178795" y="178795"/>
                    </a:lnTo>
                    <a:lnTo>
                      <a:pt x="0" y="17879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178795" cy="2168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799"/>
                  </a:lnSpc>
                </a:p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DAHIskNqjGg</dc:identifier>
  <dcterms:modified xsi:type="dcterms:W3CDTF">2011-08-01T06:04:30Z</dcterms:modified>
  <cp:revision>1</cp:revision>
  <dc:title>Hardware-Aware Real-Time Lane Enhancement</dc:title>
</cp:coreProperties>
</file>